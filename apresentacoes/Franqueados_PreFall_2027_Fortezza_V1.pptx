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9ee99456-8642-438f-33d7-7ab0f73fb8b2}">
          <p14:sldIdLst>
            <p14:sldId id="256"/>
            <p14:sldId id="257"/>
            <p14:sldId id="258"/>
            <p14:sldId id="259"/>
          </p14:sldIdLst>
        </p14:section>
        <p14:section name="Arquivo histórico" id="{02f0d316-d756-83b9-a82b-0b96992f62c3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Escuta da rede" id="{761dbffb-c502-b5d9-b134-fe5f3a2befe6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Projeto Fortezza" id="{a53a5921-32d0-a508-9595-1937a5f7c69a}">
          <p14:sldIdLst>
            <p14:sldId id="273"/>
            <p14:sldId id="274"/>
            <p14:sldId id="275"/>
            <p14:sldId id="276"/>
            <p14:sldId id="277"/>
          </p14:sldIdLst>
        </p14:section>
        <p14:section name="Produto e suprimentos" id="{9ec38108-44d8-62f6-03f2-99862688d214}">
          <p14:sldIdLst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Omnicanalidade e tecnologia" id="{b6d12fb5-eecf-dbc7-8a57-f9d6611f0b2f}">
          <p14:sldIdLst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</p14:sldIdLst>
        </p14:section>
        <p14:section name="Organização e próximos passos" id="{f3e2b2cb-0c33-e29c-4067-bf29dd02dbdc}">
          <p14:sldIdLst>
            <p14:sldId id="293"/>
            <p14:sldId id="294"/>
            <p14:sldId id="295"/>
            <p14:sldId id="296"/>
            <p14:sldId id="297"/>
            <p14:sldId id="298"/>
          </p14:sldIdLst>
        </p14:section>
        <p14:section name="Pre-Fall 2027 e encerramento" id="{0e0af7ca-9c65-c3de-5860-069a46610c10}">
          <p14:sldIdLst>
            <p14:sldId id="299"/>
            <p14:sldId id="300"/>
            <p14:sldId id="301"/>
            <p14:sldId id="30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3-1.png"/><Relationship Id="rId2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751576" y="502920"/>
            <a:ext cx="5760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400" kern="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r>
              <a:rPr lang="en-US" sz="1200" spc="400" kern="0" dirty="0">
                <a:solidFill>
                  <a:schemeClr val="accent6"/>
                </a:solidFill>
              </a:rPr>
              <a:t>AREZZO&amp;CO | EVENTO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751576" y="868680"/>
            <a:ext cx="5760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DATA</a:t>
            </a:r>
            <a:endParaRPr lang="en-US" sz="12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751576" y="1463040"/>
            <a:ext cx="5760720" cy="3977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4000" b="1" spc="100" kern="0" dirty="0">
                <a:solidFill>
                  <a:schemeClr val="accent6"/>
                </a:solidFill>
                <a:latin typeface="Unitext" pitchFamily="34" charset="0"/>
                <a:ea typeface="Unitext" pitchFamily="34" charset="-122"/>
                <a:cs typeface="Unitext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4000" b="1" spc="100" kern="0" dirty="0">
                <a:solidFill>
                  <a:schemeClr val="accent6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TÍTULO DA CAPA</a:t>
            </a: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751576" y="5623560"/>
            <a:ext cx="57607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Subtítulo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ase - verde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457200"/>
            <a:ext cx="5760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spc="600" kern="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r>
              <a:rPr lang="en-US" sz="1400" spc="600" kern="0" dirty="0">
                <a:solidFill>
                  <a:schemeClr val="accent6"/>
                </a:solidFill>
              </a:rPr>
              <a:t>RÓTULO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1280160"/>
            <a:ext cx="5760720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600" b="1" spc="100" kern="0" dirty="0">
                <a:solidFill>
                  <a:schemeClr val="accent6"/>
                </a:solidFill>
                <a:latin typeface="Unitext" pitchFamily="34" charset="0"/>
                <a:ea typeface="Unitext" pitchFamily="34" charset="-122"/>
                <a:cs typeface="Unitext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3600" b="1" spc="100" kern="0" dirty="0">
                <a:solidFill>
                  <a:schemeClr val="accent6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FRASE DE IMPACTO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9224" y="5833872"/>
            <a:ext cx="5760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Complemento da frase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ase - bordo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751576" y="457200"/>
            <a:ext cx="5760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spc="6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r>
              <a:rPr lang="en-US" sz="1400" spc="600" kern="0" dirty="0">
                <a:solidFill>
                  <a:schemeClr val="accent2"/>
                </a:solidFill>
              </a:rPr>
              <a:t>RÓTULO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751576" y="1280160"/>
            <a:ext cx="5760720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600" b="1" spc="1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3600" b="1" spc="1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FRASE DE IMPACTO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751576" y="5833872"/>
            <a:ext cx="5760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Complemento da frase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ase - ciano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9224" y="457200"/>
            <a:ext cx="5760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spc="6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1400" spc="600" kern="0" dirty="0">
                <a:solidFill>
                  <a:schemeClr val="accent1"/>
                </a:solidFill>
              </a:rPr>
              <a:t>RÓTULO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9224" y="1280160"/>
            <a:ext cx="5760720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600" b="1" spc="100" kern="0" dirty="0">
                <a:solidFill>
                  <a:schemeClr val="accent1"/>
                </a:solidFill>
                <a:latin typeface="Unitext" pitchFamily="34" charset="0"/>
                <a:ea typeface="Unitext" pitchFamily="34" charset="-122"/>
                <a:cs typeface="Unitext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3600" b="1" spc="100" kern="0" dirty="0">
                <a:solidFill>
                  <a:schemeClr val="accent1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FRASE DE IMPACTO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9224" y="5833872"/>
            <a:ext cx="5760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Complemento da frase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m - arquivo">
    <p:bg>
      <p:bgPr>
        <a:solidFill>
          <a:schemeClr val="accent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est/09b831be-8540-541d-ba93-b647d8c197aa/scratchpad/build/img/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74320"/>
            <a:ext cx="868680" cy="1554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20072" y="210312"/>
            <a:ext cx="2039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chemeClr val="tx1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PRE-FALL ’27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234440"/>
            <a:ext cx="3200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RÓTULO</a:t>
            </a: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1600200"/>
            <a:ext cx="283464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spc="-1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spc="-100" kern="0" dirty="0">
                <a:solidFill>
                  <a:schemeClr val="tx1"/>
                </a:solidFill>
              </a:rPr>
              <a:t>Título principal_</a:t>
            </a:r>
            <a:endParaRPr lang="en-US" sz="32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48640" y="4069080"/>
            <a:ext cx="2834640" cy="153619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Legenda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m - evidencia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914400"/>
            <a:ext cx="8534095" cy="5010912"/>
          </a:xfrm>
          <a:prstGeom prst="rect">
            <a:avLst/>
          </a:prstGeom>
          <a:solidFill>
            <a:schemeClr val="accent6"/>
          </a:solidFill>
          <a:ln/>
        </p:spPr>
      </p:sp>
      <p:pic>
        <p:nvPicPr>
          <p:cNvPr id="3" name="Image 0" descr="/tmp/claude-0/-home-user-test/09b831be-8540-541d-ba93-b647d8c197aa/scratchpad/build/img/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74320"/>
            <a:ext cx="868680" cy="155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20072" y="210312"/>
            <a:ext cx="2039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chemeClr val="tx1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PRE-FALL ’27</a:t>
            </a:r>
            <a:endParaRPr lang="en-US" sz="9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1234440"/>
            <a:ext cx="3200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RÓTULO</a:t>
            </a:r>
            <a:endParaRPr lang="en-US" sz="11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548640" y="1600200"/>
            <a:ext cx="283464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spc="-1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spc="-100" kern="0" dirty="0">
                <a:solidFill>
                  <a:schemeClr val="tx1"/>
                </a:solidFill>
              </a:rPr>
              <a:t>Título principal_</a:t>
            </a:r>
            <a:endParaRPr lang="en-US" sz="32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548640" y="4069080"/>
            <a:ext cx="2834640" cy="153619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Legenda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sta numerada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est/09b831be-8540-541d-ba93-b647d8c197aa/scratchpad/build/img/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74320"/>
            <a:ext cx="868680" cy="1554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20072" y="210312"/>
            <a:ext cx="2039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chemeClr val="tx1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PRE-FALL ’27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056632" y="868680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RÓTULO</a:t>
            </a: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056632" y="1188720"/>
            <a:ext cx="667512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spc="-1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spc="-100" kern="0" dirty="0">
                <a:solidFill>
                  <a:schemeClr val="accent1"/>
                </a:solidFill>
              </a:rPr>
              <a:t>Título principal_</a:t>
            </a:r>
            <a:endParaRPr lang="en-US" sz="44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sta com fot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est/09b831be-8540-541d-ba93-b647d8c197aa/scratchpad/build/img/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0136" y="274320"/>
            <a:ext cx="868680" cy="1554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20072" y="210312"/>
            <a:ext cx="2039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chemeClr val="tx1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PRE-FALL ’27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2240280"/>
            <a:ext cx="4206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6"/>
                </a:solidFill>
                <a:latin typeface="Unitext" pitchFamily="34" charset="0"/>
                <a:ea typeface="Unitext" pitchFamily="34" charset="-122"/>
                <a:cs typeface="Unit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300" kern="0" dirty="0">
                <a:solidFill>
                  <a:schemeClr val="accent6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RÓTULO</a:t>
            </a: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2606040"/>
            <a:ext cx="42976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spc="-100" kern="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r>
              <a:rPr lang="en-US" sz="4800" spc="-100" kern="0" dirty="0">
                <a:solidFill>
                  <a:schemeClr val="accent6"/>
                </a:solidFill>
              </a:rPr>
              <a:t>Título principal_</a:t>
            </a:r>
            <a:endParaRPr lang="en-US" sz="48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sta com linhas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est/09b831be-8540-541d-ba93-b647d8c197aa/scratchpad/build/img/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74320"/>
            <a:ext cx="868680" cy="1554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20072" y="210312"/>
            <a:ext cx="2039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chemeClr val="tx1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PRE-FALL ’27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0" y="1243584"/>
            <a:ext cx="1219169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1664208"/>
            <a:ext cx="1219169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980944" y="1243584"/>
            <a:ext cx="0" cy="5614416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86016" y="1243584"/>
            <a:ext cx="0" cy="5614416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80960" y="1664208"/>
            <a:ext cx="0" cy="5193792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9" name="Text 6"/>
          <p:cNvSpPr/>
          <p:nvPr>
            <p:ph idx="107" type="body" hasCustomPrompt="1"/>
          </p:nvPr>
        </p:nvSpPr>
        <p:spPr>
          <a:xfrm>
            <a:off x="493776" y="1783080"/>
            <a:ext cx="2377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RÓTULO</a:t>
            </a:r>
            <a:endParaRPr lang="en-US" sz="1100" dirty="0"/>
          </a:p>
        </p:txBody>
      </p:sp>
      <p:sp>
        <p:nvSpPr>
          <p:cNvPr id="10" name="Text 6"/>
          <p:cNvSpPr/>
          <p:nvPr>
            <p:ph idx="108" type="title" hasCustomPrompt="1"/>
          </p:nvPr>
        </p:nvSpPr>
        <p:spPr>
          <a:xfrm>
            <a:off x="493776" y="2606040"/>
            <a:ext cx="2377440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spc="-1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spc="-100" kern="0" dirty="0">
                <a:solidFill>
                  <a:schemeClr val="tx1"/>
                </a:solidFill>
              </a:rPr>
              <a:t>Título principal_</a:t>
            </a:r>
            <a:endParaRPr lang="en-US" sz="30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e 2x2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est/09b831be-8540-541d-ba93-b647d8c197aa/scratchpad/build/img/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274320"/>
            <a:ext cx="868680" cy="1554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20072" y="210312"/>
            <a:ext cx="2039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chemeClr val="tx1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PRE-FALL ’27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394960" y="868680"/>
            <a:ext cx="63093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RÓTULO</a:t>
            </a: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394960" y="1170432"/>
            <a:ext cx="64008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spc="-1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spc="-100" kern="0" dirty="0">
                <a:solidFill>
                  <a:schemeClr val="tx1"/>
                </a:solidFill>
              </a:rPr>
              <a:t>Título principal_</a:t>
            </a:r>
            <a:endParaRPr lang="en-US" sz="40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inel verde 2x2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0"/>
            <a:ext cx="4946904" cy="6858000"/>
          </a:xfrm>
          <a:prstGeom prst="rect">
            <a:avLst/>
          </a:prstGeom>
          <a:solidFill>
            <a:schemeClr val="accent3"/>
          </a:solidFill>
          <a:ln/>
        </p:spPr>
      </p:sp>
      <p:pic>
        <p:nvPicPr>
          <p:cNvPr id="3" name="Image 0" descr="/tmp/claude-0/-home-user-test/09b831be-8540-541d-ba93-b647d8c197aa/scratchpad/build/img/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4" y="274320"/>
            <a:ext cx="868680" cy="155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20072" y="210312"/>
            <a:ext cx="2039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chemeClr val="tx1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PRE-FALL ’27</a:t>
            </a:r>
            <a:endParaRPr lang="en-US" sz="9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6364224" y="1188720"/>
            <a:ext cx="53949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RÓTULO</a:t>
            </a:r>
            <a:endParaRPr lang="en-US" sz="11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6364224" y="1481328"/>
            <a:ext cx="53949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spc="-1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spc="-100" kern="0" dirty="0">
                <a:solidFill>
                  <a:schemeClr val="tx1"/>
                </a:solidFill>
              </a:rPr>
              <a:t>Título principal_</a:t>
            </a:r>
            <a:endParaRPr lang="en-US" sz="44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o verde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est/09b831be-8540-541d-ba93-b647d8c197aa/scratchpad/build/img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74320"/>
            <a:ext cx="868680" cy="1554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20072" y="210312"/>
            <a:ext cx="2039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chemeClr val="accent6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PRE-FALL ’27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6096305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914400" y="1188720"/>
            <a:ext cx="48463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spc="-100" kern="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spc="-100" kern="0" dirty="0">
                <a:solidFill>
                  <a:schemeClr val="accent6"/>
                </a:solidFill>
              </a:rPr>
              <a:t>Título principal_</a:t>
            </a:r>
            <a:endParaRPr lang="en-US" sz="44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6583680" y="1325880"/>
            <a:ext cx="4572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RÓTULO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s com fot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est/09b831be-8540-541d-ba93-b647d8c197aa/scratchpad/build/img/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868680" cy="1554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68696" y="210312"/>
            <a:ext cx="2039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chemeClr val="tx1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PRE-FALL ’27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1124712" y="1554480"/>
            <a:ext cx="5120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RÓTULO</a:t>
            </a: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1124712" y="1847088"/>
            <a:ext cx="56692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spc="-1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spc="-100" kern="0" dirty="0">
                <a:solidFill>
                  <a:schemeClr val="tx1"/>
                </a:solidFill>
              </a:rPr>
              <a:t>Título principal_</a:t>
            </a:r>
            <a:endParaRPr lang="en-US" sz="440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ner e colunas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est/09b831be-8540-541d-ba93-b647d8c197aa/scratchpad/build/img/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74320"/>
            <a:ext cx="868680" cy="1554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22376" y="1143000"/>
            <a:ext cx="39319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spc="-1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spc="-100" kern="0" dirty="0">
                <a:solidFill>
                  <a:schemeClr val="tx1"/>
                </a:solidFill>
              </a:rPr>
              <a:t>Título principal_</a:t>
            </a:r>
            <a:endParaRPr lang="en-US" sz="400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ura e bloc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88736" y="4663440"/>
            <a:ext cx="6302959" cy="219456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/>
          <p:nvPr/>
        </p:nvSpPr>
        <p:spPr>
          <a:xfrm>
            <a:off x="9720072" y="210312"/>
            <a:ext cx="2039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chemeClr val="tx1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PRE-FALL ’27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768096" y="4983480"/>
            <a:ext cx="49377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spc="-1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spc="-100" kern="0" dirty="0">
                <a:solidFill>
                  <a:schemeClr val="tx1"/>
                </a:solidFill>
              </a:rPr>
              <a:t>Título principal_</a:t>
            </a:r>
            <a:endParaRPr lang="en-US" sz="36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6702552" y="4983480"/>
            <a:ext cx="50292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spc="-1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4400" spc="-100" kern="0" dirty="0">
                <a:solidFill>
                  <a:schemeClr val="accent1"/>
                </a:solidFill>
              </a:rPr>
              <a:t>SELO</a:t>
            </a:r>
            <a:endParaRPr lang="en-US" sz="440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sta PRE FAL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est/09b831be-8540-541d-ba93-b647d8c197aa/scratchpad/build/img/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74320"/>
            <a:ext cx="868680" cy="1554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 rot="16200000">
            <a:off x="8275320" y="288036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PRE FALL ’27</a:t>
            </a:r>
            <a:endParaRPr lang="en-US" sz="6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914400"/>
            <a:ext cx="356616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RÓTULO</a:t>
            </a: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640080" y="1463040"/>
            <a:ext cx="37490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spc="-1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spc="-100" kern="0" dirty="0">
                <a:solidFill>
                  <a:schemeClr val="tx1"/>
                </a:solidFill>
              </a:rPr>
              <a:t>Título principal_</a:t>
            </a:r>
            <a:endParaRPr lang="en-US" sz="4000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527048" y="301752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RÓTULO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527048" y="3383280"/>
            <a:ext cx="91440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b="1" spc="200" kern="0" dirty="0">
                <a:solidFill>
                  <a:schemeClr val="accent6"/>
                </a:solidFill>
                <a:latin typeface="Unitext" pitchFamily="34" charset="0"/>
                <a:ea typeface="Unitext" pitchFamily="34" charset="-122"/>
                <a:cs typeface="Unit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000" b="1" spc="200" kern="0" dirty="0">
                <a:solidFill>
                  <a:schemeClr val="accent6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TÍTULO DO VÍDEO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527048" y="4343400"/>
            <a:ext cx="91440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spc="300" kern="0" dirty="0">
                <a:solidFill>
                  <a:schemeClr val="accent6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400" spc="300" kern="0" dirty="0">
                <a:solidFill>
                  <a:schemeClr val="accent6"/>
                </a:solidFill>
              </a:rPr>
              <a:t>STATUS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inteira com list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1691640"/>
            <a:ext cx="5120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RÓTULO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057400"/>
            <a:ext cx="5120640" cy="2560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spc="-100" kern="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spc="-100" kern="0" dirty="0">
                <a:solidFill>
                  <a:schemeClr val="accent2"/>
                </a:solidFill>
              </a:rPr>
              <a:t>Título principal_</a:t>
            </a: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jp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4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jp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16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image" Target="../media/image-37-2.jp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image" Target="../media/image-44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slideLayout" Target="../slideLayouts/slideLayout19.xml"/><Relationship Id="rId3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xtura key visual" descr="/tmp/claude-0/-home-user-test/09b831be-8540-541d-ba93-b647d8c197aa/scratchpad/build/img/tx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266944" cy="6858000"/>
          </a:xfrm>
          <a:prstGeom prst="rect">
            <a:avLst/>
          </a:prstGeom>
        </p:spPr>
      </p:pic>
      <p:sp>
        <p:nvSpPr>
          <p:cNvPr id="3" name="Véu da textura"/>
          <p:cNvSpPr/>
          <p:nvPr/>
        </p:nvSpPr>
        <p:spPr>
          <a:xfrm>
            <a:off x="0" y="0"/>
            <a:ext cx="5266944" cy="6858000"/>
          </a:xfrm>
          <a:prstGeom prst="rect">
            <a:avLst/>
          </a:prstGeom>
          <a:solidFill>
            <a:schemeClr val="tx1">
              <a:alpha val="20000"/>
            </a:schemeClr>
          </a:solidFill>
          <a:ln/>
        </p:spPr>
      </p:sp>
      <p:pic>
        <p:nvPicPr>
          <p:cNvPr id="4" name="Etiqueta AREZZO" descr="/tmp/claude-0/-home-user-test/09b831be-8540-541d-ba93-b647d8c197aa/scratchpad/build/img/label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" y="2532888"/>
            <a:ext cx="4178808" cy="1819656"/>
          </a:xfrm>
          <a:prstGeom prst="rect">
            <a:avLst/>
          </a:prstGeom>
        </p:spPr>
      </p:pic>
      <p:pic>
        <p:nvPicPr>
          <p:cNvPr id="5" name="Logo AREZZO" descr="/tmp/claude-0/-home-user-test/09b831be-8540-541d-ba93-b647d8c197aa/scratchpad/build/img/logo_white_bi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3118104"/>
            <a:ext cx="2340864" cy="42062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641348" y="3602736"/>
            <a:ext cx="1984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PRE FALL ’27</a:t>
            </a:r>
            <a:endParaRPr lang="en-US" sz="1100" dirty="0"/>
          </a:p>
        </p:txBody>
      </p:sp>
      <p:sp>
        <p:nvSpPr>
          <p:cNvPr id="7" name="Text 0"/>
          <p:cNvSpPr/>
          <p:nvPr>
            <p:ph idx="100" type="body" hasCustomPrompt="1"/>
          </p:nvPr>
        </p:nvSpPr>
        <p:spPr>
          <a:xfrm>
            <a:off x="5751576" y="5029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400" kern="0" dirty="0">
                <a:solidFill>
                  <a:schemeClr val="accent6"/>
                </a:solidFill>
              </a:rPr>
              <a:t>AREZZO&amp;CO | FRANQUEADOS PRE-FALL 2027</a:t>
            </a:r>
            <a:endParaRPr lang="en-US" sz="1200" dirty="0"/>
          </a:p>
        </p:txBody>
      </p:sp>
      <p:sp>
        <p:nvSpPr>
          <p:cNvPr id="8" name="Text 0"/>
          <p:cNvSpPr/>
          <p:nvPr>
            <p:ph idx="101" type="body" hasCustomPrompt="1"/>
          </p:nvPr>
        </p:nvSpPr>
        <p:spPr>
          <a:xfrm>
            <a:off x="5751576" y="8686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21 DE OUTUBRO DE 2026</a:t>
            </a:r>
            <a:endParaRPr lang="en-US" sz="1200" dirty="0"/>
          </a:p>
        </p:txBody>
      </p:sp>
      <p:sp>
        <p:nvSpPr>
          <p:cNvPr id="9" name="Text 0"/>
          <p:cNvSpPr/>
          <p:nvPr>
            <p:ph idx="102" type="title" hasCustomPrompt="1"/>
          </p:nvPr>
        </p:nvSpPr>
        <p:spPr>
          <a:xfrm>
            <a:off x="5751576" y="1463040"/>
            <a:ext cx="57607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spc="100" kern="0" dirty="0">
                <a:solidFill>
                  <a:schemeClr val="accent6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DE VOLTA À NOSSA ESSÊNCIA.</a:t>
            </a:r>
            <a:endParaRPr lang="en-US" sz="4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000" b="1" spc="100" kern="0" dirty="0">
                <a:solidFill>
                  <a:schemeClr val="accent6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DE OLHO NO FUTURO.</a:t>
            </a:r>
            <a:endParaRPr lang="en-US" sz="4000" dirty="0"/>
          </a:p>
        </p:txBody>
      </p:sp>
      <p:sp>
        <p:nvSpPr>
          <p:cNvPr id="10" name="Text 0"/>
          <p:cNvSpPr/>
          <p:nvPr>
            <p:ph idx="103" type="body" hasCustomPrompt="1"/>
          </p:nvPr>
        </p:nvSpPr>
        <p:spPr>
          <a:xfrm>
            <a:off x="5751576" y="562356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Lançamento Pre-Fall 2027 | Il futuro nasce dalle nostre origini.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campanha" descr="/tmp/claude-0/-home-user-test/09b831be-8540-541d-ba93-b647d8c197aa/scratchpad/build/img/st_p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2008" y="0"/>
            <a:ext cx="5266944" cy="6858000"/>
          </a:xfrm>
          <a:prstGeom prst="rect">
            <a:avLst/>
          </a:prstGeom>
        </p:spPr>
      </p:pic>
      <p:pic>
        <p:nvPicPr>
          <p:cNvPr id="3" name="Logo AREZZO" descr="/tmp/claude-0/-home-user-test/09b831be-8540-541d-ba93-b647d8c197aa/scratchpad/build/img/logo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256" y="3108960"/>
            <a:ext cx="3584448" cy="64922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body" hasCustomPrompt="1"/>
          </p:nvPr>
        </p:nvSpPr>
        <p:spPr>
          <a:xfrm>
            <a:off x="649224" y="4572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600" kern="0" dirty="0">
                <a:solidFill>
                  <a:schemeClr val="accent6"/>
                </a:solidFill>
              </a:rPr>
              <a:t>ABERTURA</a:t>
            </a:r>
            <a:endParaRPr lang="en-US" sz="14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649224" y="1280160"/>
            <a:ext cx="57607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spc="100" kern="0" dirty="0">
                <a:solidFill>
                  <a:schemeClr val="accent6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HOJE NÃO É APENAS O LANÇAMENTO DE UMA COLEÇÃO.</a:t>
            </a:r>
            <a:endParaRPr lang="en-US" sz="36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649224" y="5833872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É o reencontro com os parceiros que construíram nossa história.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" descr="/tmp/claude-0/-home-user-test/09b831be-8540-541d-ba93-b647d8c197aa/scratchpad/build/img/l1_p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243584"/>
            <a:ext cx="3749040" cy="5614416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2" type="body" hasCustomPrompt="1"/>
          </p:nvPr>
        </p:nvSpPr>
        <p:spPr>
          <a:xfrm>
            <a:off x="5056632" y="868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056632" y="1188720"/>
            <a:ext cx="6675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spc="-100" kern="0" dirty="0">
                <a:solidFill>
                  <a:schemeClr val="accent1"/>
                </a:solidFill>
              </a:rPr>
              <a:t>A conversa que</a:t>
            </a:r>
            <a:endParaRPr lang="en-US" sz="4400" dirty="0"/>
          </a:p>
          <a:p>
            <a:pPr algn="l" indent="0" marL="0">
              <a:buNone/>
            </a:pPr>
            <a:r>
              <a:rPr lang="en-US" sz="4400" spc="-100" kern="0" dirty="0">
                <a:solidFill>
                  <a:schemeClr val="accent1"/>
                </a:solidFill>
              </a:rPr>
              <a:t>precisamos ter</a:t>
            </a:r>
            <a:pPr algn="l" indent="0" marL="0">
              <a:buNone/>
            </a:pPr>
            <a:r>
              <a:rPr lang="en-US" sz="1300" spc="-100" kern="0" dirty="0">
                <a:solidFill>
                  <a:schemeClr val="accent1"/>
                </a:solidFill>
              </a:rPr>
              <a:t>_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056632" y="290779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2"/>
                </a:solidFill>
              </a:rPr>
              <a:t>01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788152" y="3035808"/>
            <a:ext cx="2496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Reconhecer o momento e ouvir o que a rede está nos dizendo.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90779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2"/>
                </a:solidFill>
              </a:rPr>
              <a:t>02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9235440" y="3035808"/>
            <a:ext cx="2496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Reafirmar a importância estratégica e econômica das franquias.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056632" y="450799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2"/>
                </a:solidFill>
              </a:rPr>
              <a:t>03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5788152" y="4636008"/>
            <a:ext cx="2496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Mostrar decisões, responsáveis, entregas e próximos passos.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503920" y="450799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2"/>
                </a:solidFill>
              </a:rPr>
              <a:t>04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9235440" y="4636008"/>
            <a:ext cx="2496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Apresentar a Pre-Fall 2027 como início de um novo ciclo comercial.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campanha" descr="/tmp/claude-0/-home-user-test/09b831be-8540-541d-ba93-b647d8c197aa/scratchpad/build/img/st_p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266944" cy="6858000"/>
          </a:xfrm>
          <a:prstGeom prst="rect">
            <a:avLst/>
          </a:prstGeom>
        </p:spPr>
      </p:pic>
      <p:pic>
        <p:nvPicPr>
          <p:cNvPr id="3" name="Logo AREZZO" descr="/tmp/claude-0/-home-user-test/09b831be-8540-541d-ba93-b647d8c197aa/scratchpad/build/img/logo_bur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108960"/>
            <a:ext cx="3584448" cy="64922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body" hasCustomPrompt="1"/>
          </p:nvPr>
        </p:nvSpPr>
        <p:spPr>
          <a:xfrm>
            <a:off x="5751576" y="4572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600" kern="0" dirty="0">
                <a:solidFill>
                  <a:schemeClr val="accent2"/>
                </a:solidFill>
              </a:rPr>
              <a:t>MENSAGEM DO CEO</a:t>
            </a:r>
            <a:endParaRPr lang="en-US" sz="14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751576" y="1280160"/>
            <a:ext cx="57607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spc="1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ESTOU DE VOLTA AO NEGÓCIO.</a:t>
            </a:r>
            <a:endParaRPr lang="en-US" sz="36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600" b="1" spc="1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E ESTOU PERTO DA OPERAÇÃO.</a:t>
            </a:r>
            <a:endParaRPr lang="en-US" sz="36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5751576" y="5833872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Produto, lojas, franqueados, velocidade e execução voltarão ao centro das decisões.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ARQUIVO HISTÓRICO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60020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spc="-100" kern="0" dirty="0">
                <a:solidFill>
                  <a:schemeClr val="tx1"/>
                </a:solidFill>
              </a:rPr>
              <a:t>Produto certo,</a:t>
            </a:r>
            <a:endParaRPr lang="en-US" sz="3200" dirty="0"/>
          </a:p>
          <a:p>
            <a:pPr algn="l" indent="0" marL="0">
              <a:buNone/>
            </a:pPr>
            <a:r>
              <a:rPr lang="en-US" sz="3200" spc="-100" kern="0" dirty="0">
                <a:solidFill>
                  <a:schemeClr val="tx1"/>
                </a:solidFill>
              </a:rPr>
              <a:t>na hora certa</a:t>
            </a:r>
            <a:pPr algn="l" indent="0" marL="0">
              <a:buNone/>
            </a:pPr>
            <a:r>
              <a:rPr lang="en-US" sz="1000" spc="-100" kern="0" dirty="0">
                <a:solidFill>
                  <a:schemeClr val="tx1"/>
                </a:solidFill>
              </a:rPr>
              <a:t>_</a:t>
            </a:r>
            <a:endParaRPr lang="en-US" sz="32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4069080"/>
            <a:ext cx="28346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Em 2018, a marca defendia essência com tendência, valor percebido e produto comercialmente relevante.</a:t>
            </a:r>
            <a:endParaRPr lang="en-US" sz="1600" dirty="0"/>
          </a:p>
        </p:txBody>
      </p:sp>
      <p:pic>
        <p:nvPicPr>
          <p:cNvPr id="5" name="Imagem de referência" descr="/tmp/claude-0/-home-user-test/09b831be-8540-541d-ba93-b647d8c197aa/scratchpad/build/img/pdf_p0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234440"/>
            <a:ext cx="7772400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ARQUIVO HISTÓRICO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60020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spc="-100" kern="0" dirty="0">
                <a:solidFill>
                  <a:schemeClr val="tx1"/>
                </a:solidFill>
              </a:rPr>
              <a:t>Inovação faz parte</a:t>
            </a:r>
            <a:endParaRPr lang="en-US" sz="3200" dirty="0"/>
          </a:p>
          <a:p>
            <a:pPr algn="l" indent="0" marL="0">
              <a:buNone/>
            </a:pPr>
            <a:r>
              <a:rPr lang="en-US" sz="3200" spc="-100" kern="0" dirty="0">
                <a:solidFill>
                  <a:schemeClr val="tx1"/>
                </a:solidFill>
              </a:rPr>
              <a:t>do nosso DNA</a:t>
            </a:r>
            <a:pPr algn="l" indent="0" marL="0">
              <a:buNone/>
            </a:pPr>
            <a:r>
              <a:rPr lang="en-US" sz="1000" spc="-100" kern="0" dirty="0">
                <a:solidFill>
                  <a:schemeClr val="tx1"/>
                </a:solidFill>
              </a:rPr>
              <a:t>_</a:t>
            </a:r>
            <a:endParaRPr lang="en-US" sz="32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4069080"/>
            <a:ext cx="28346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Disney x Arezzo: exemplo histórico de collab e construção de desejo.</a:t>
            </a:r>
            <a:endParaRPr lang="en-US" sz="1600" dirty="0"/>
          </a:p>
        </p:txBody>
      </p:sp>
      <p:pic>
        <p:nvPicPr>
          <p:cNvPr id="5" name="Imagem de referência" descr="/tmp/claude-0/-home-user-test/09b831be-8540-541d-ba93-b647d8c197aa/scratchpad/build/img/pdf_p0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234440"/>
            <a:ext cx="7772400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ARQUIVO HISTÓRICO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60020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spc="-100" kern="0" dirty="0">
                <a:solidFill>
                  <a:schemeClr val="tx1"/>
                </a:solidFill>
              </a:rPr>
              <a:t>Franqueado e franqueadora: parceria</a:t>
            </a:r>
            <a:pPr algn="l" indent="0" marL="0">
              <a:buNone/>
            </a:pPr>
            <a:r>
              <a:rPr lang="en-US" sz="1000" spc="-100" kern="0" dirty="0">
                <a:solidFill>
                  <a:schemeClr val="tx1"/>
                </a:solidFill>
              </a:rPr>
              <a:t>_</a:t>
            </a:r>
            <a:endParaRPr lang="en-US" sz="32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4069080"/>
            <a:ext cx="28346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Em 2018, diretrizes, suporte e execução da rede já eram vistos como indissociáveis.</a:t>
            </a:r>
            <a:endParaRPr lang="en-US" sz="1600" dirty="0"/>
          </a:p>
        </p:txBody>
      </p:sp>
      <p:pic>
        <p:nvPicPr>
          <p:cNvPr id="5" name="Imagem de referência" descr="/tmp/claude-0/-home-user-test/09b831be-8540-541d-ba93-b647d8c197aa/scratchpad/build/img/pdf_p0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234440"/>
            <a:ext cx="7772400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ARQUIVO HISTÓRICO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60020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spc="-100" kern="0" dirty="0">
                <a:solidFill>
                  <a:schemeClr val="tx1"/>
                </a:solidFill>
              </a:rPr>
              <a:t>Nossa visão de varejo digital em 2018</a:t>
            </a:r>
            <a:pPr algn="l" indent="0" marL="0">
              <a:buNone/>
            </a:pPr>
            <a:r>
              <a:rPr lang="en-US" sz="1000" spc="-100" kern="0" dirty="0">
                <a:solidFill>
                  <a:schemeClr val="tx1"/>
                </a:solidFill>
              </a:rPr>
              <a:t>_</a:t>
            </a:r>
            <a:endParaRPr lang="en-US" sz="32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4069080"/>
            <a:ext cx="28346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projeto Varejo 2.0 já descrevia a jornada digital da cliente e do franqueado.</a:t>
            </a:r>
            <a:endParaRPr lang="en-US" sz="1600" dirty="0"/>
          </a:p>
        </p:txBody>
      </p:sp>
      <p:pic>
        <p:nvPicPr>
          <p:cNvPr id="5" name="Imagem de referência" descr="/tmp/claude-0/-home-user-test/09b831be-8540-541d-ba93-b647d8c197aa/scratchpad/build/img/pdf_p0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234440"/>
            <a:ext cx="7772400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ARQUIVO HISTÓRICO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60020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spc="-100" kern="0" dirty="0">
                <a:solidFill>
                  <a:schemeClr val="tx1"/>
                </a:solidFill>
              </a:rPr>
              <a:t>Checkout móvel: uma ideia antiga</a:t>
            </a:r>
            <a:pPr algn="l" indent="0" marL="0">
              <a:buNone/>
            </a:pPr>
            <a:r>
              <a:rPr lang="en-US" sz="1000" spc="-100" kern="0" dirty="0">
                <a:solidFill>
                  <a:schemeClr val="tx1"/>
                </a:solidFill>
              </a:rPr>
              <a:t>_</a:t>
            </a:r>
            <a:endParaRPr lang="en-US" sz="32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4069080"/>
            <a:ext cx="28346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conceito já estava desenhado em 2018. O desafio é transformá-lo em entrega efetiva.</a:t>
            </a:r>
            <a:endParaRPr lang="en-US" sz="1600" dirty="0"/>
          </a:p>
        </p:txBody>
      </p:sp>
      <p:pic>
        <p:nvPicPr>
          <p:cNvPr id="5" name="Imagem de referência" descr="/tmp/claude-0/-home-user-test/09b831be-8540-541d-ba93-b647d8c197aa/scratchpad/build/img/pdf_p0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234440"/>
            <a:ext cx="7772400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ARQUIVO HISTÓRICO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60020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spc="-100" kern="0" dirty="0">
                <a:solidFill>
                  <a:schemeClr val="tx1"/>
                </a:solidFill>
              </a:rPr>
              <a:t>ZZnet Mobile: o futuro anunciado</a:t>
            </a:r>
            <a:pPr algn="l" indent="0" marL="0">
              <a:buNone/>
            </a:pPr>
            <a:r>
              <a:rPr lang="en-US" sz="1000" spc="-100" kern="0" dirty="0">
                <a:solidFill>
                  <a:schemeClr val="tx1"/>
                </a:solidFill>
              </a:rPr>
              <a:t>_</a:t>
            </a:r>
            <a:endParaRPr lang="en-US" sz="32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4069080"/>
            <a:ext cx="28346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Indicadores e histórico da cliente na palma da mão. Precisamos modernizar e concluir a jornada.</a:t>
            </a:r>
            <a:endParaRPr lang="en-US" sz="1600" dirty="0"/>
          </a:p>
        </p:txBody>
      </p:sp>
      <p:pic>
        <p:nvPicPr>
          <p:cNvPr id="5" name="Imagem de referência" descr="/tmp/claude-0/-home-user-test/09b831be-8540-541d-ba93-b647d8c197aa/scratchpad/build/img/pdf_p0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234440"/>
            <a:ext cx="7772400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campanha" descr="/tmp/claude-0/-home-user-test/09b831be-8540-541d-ba93-b647d8c197aa/scratchpad/build/img/st_p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2008" y="0"/>
            <a:ext cx="5266944" cy="6858000"/>
          </a:xfrm>
          <a:prstGeom prst="rect">
            <a:avLst/>
          </a:prstGeom>
        </p:spPr>
      </p:pic>
      <p:pic>
        <p:nvPicPr>
          <p:cNvPr id="3" name="Logo AREZZO" descr="/tmp/claude-0/-home-user-test/09b831be-8540-541d-ba93-b647d8c197aa/scratchpad/build/img/logo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256" y="3108960"/>
            <a:ext cx="3584448" cy="64922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body" hasCustomPrompt="1"/>
          </p:nvPr>
        </p:nvSpPr>
        <p:spPr>
          <a:xfrm>
            <a:off x="649224" y="4572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600" kern="0" dirty="0">
                <a:solidFill>
                  <a:schemeClr val="accent1"/>
                </a:solidFill>
              </a:rPr>
              <a:t>NOSSA VIRADA</a:t>
            </a:r>
            <a:endParaRPr lang="en-US" sz="14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649224" y="1280160"/>
            <a:ext cx="57607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spc="100" kern="0" dirty="0">
                <a:solidFill>
                  <a:schemeClr val="accent1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NÃO BASTA TER SIDO PIONEIRO.</a:t>
            </a:r>
            <a:endParaRPr lang="en-US" sz="36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600" b="1" spc="100" kern="0" dirty="0">
                <a:solidFill>
                  <a:schemeClr val="accent1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PRECISAMOS VOLTAR A EXECUTAR.</a:t>
            </a:r>
            <a:endParaRPr lang="en-US" sz="36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649224" y="5833872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EVIDÊNCIA DO PROJETO</a:t>
            </a:r>
            <a:endParaRPr lang="en-US" sz="11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160020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spc="-100" kern="0" dirty="0">
                <a:solidFill>
                  <a:schemeClr val="tx1"/>
                </a:solidFill>
              </a:rPr>
              <a:t>Escutamos a rede em seis praças</a:t>
            </a:r>
            <a:pPr algn="l" indent="0" marL="0">
              <a:buNone/>
            </a:pPr>
            <a:r>
              <a:rPr lang="en-US" sz="1000" spc="-100" kern="0" dirty="0">
                <a:solidFill>
                  <a:schemeClr val="tx1"/>
                </a:solidFill>
              </a:rPr>
              <a:t>_</a:t>
            </a:r>
            <a:endParaRPr lang="en-US" sz="32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548640" y="4069080"/>
            <a:ext cx="28346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65 franqueados presentes e 160 lojas participantes, segundo o roadshow.</a:t>
            </a:r>
            <a:endParaRPr lang="en-US" sz="1600" dirty="0"/>
          </a:p>
        </p:txBody>
      </p:sp>
      <p:pic>
        <p:nvPicPr>
          <p:cNvPr id="5" name="Imagem de referência" descr="/tmp/claude-0/-home-user-test/09b831be-8540-541d-ba93-b647d8c197aa/scratchpad/build/img/pdf_p0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234440"/>
            <a:ext cx="7772400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campanha" descr="/tmp/claude-0/-home-user-test/09b831be-8540-541d-ba93-b647d8c197aa/scratchpad/build/img/st_p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266944" cy="6858000"/>
          </a:xfrm>
          <a:prstGeom prst="rect">
            <a:avLst/>
          </a:prstGeom>
        </p:spPr>
      </p:pic>
      <p:pic>
        <p:nvPicPr>
          <p:cNvPr id="3" name="Logo AREZZO" descr="/tmp/claude-0/-home-user-test/09b831be-8540-541d-ba93-b647d8c197aa/scratchpad/build/img/logo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108960"/>
            <a:ext cx="3584448" cy="64922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body" hasCustomPrompt="1"/>
          </p:nvPr>
        </p:nvSpPr>
        <p:spPr>
          <a:xfrm>
            <a:off x="5751576" y="4572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600" kern="0" dirty="0">
                <a:solidFill>
                  <a:schemeClr val="accent2"/>
                </a:solidFill>
              </a:rPr>
              <a:t>A VOZ DOS FRANQUEADOS</a:t>
            </a:r>
            <a:endParaRPr lang="en-US" sz="14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751576" y="1280160"/>
            <a:ext cx="57607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spc="1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“O NEGÓCIO SE DISTANCIOU DA PONTA.”</a:t>
            </a:r>
            <a:endParaRPr lang="en-US" sz="36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5751576" y="5833872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Ouvimos essa percepção. Ela exige resposta concreta, não apenas discurso.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EVIDÊNCIA DO PROJETO</a:t>
            </a:r>
            <a:endParaRPr lang="en-US" sz="11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160020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spc="-100" kern="0" dirty="0">
                <a:solidFill>
                  <a:schemeClr val="tx1"/>
                </a:solidFill>
              </a:rPr>
              <a:t>O diagnóstico da rede é claro</a:t>
            </a:r>
            <a:pPr algn="l" indent="0" marL="0">
              <a:buNone/>
            </a:pPr>
            <a:r>
              <a:rPr lang="en-US" sz="1000" spc="-100" kern="0" dirty="0">
                <a:solidFill>
                  <a:schemeClr val="tx1"/>
                </a:solidFill>
              </a:rPr>
              <a:t>_</a:t>
            </a:r>
            <a:endParaRPr lang="en-US" sz="32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548640" y="4069080"/>
            <a:ext cx="28346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Em 6 de 6 praças: qualidade, rentabilidade, liquidação, ZZPartners e pedidos desalinhados.</a:t>
            </a:r>
            <a:endParaRPr lang="en-US" sz="1600" dirty="0"/>
          </a:p>
        </p:txBody>
      </p:sp>
      <p:pic>
        <p:nvPicPr>
          <p:cNvPr id="5" name="Imagem de referência" descr="/tmp/claude-0/-home-user-test/09b831be-8540-541d-ba93-b647d8c197aa/scratchpad/build/img/pdf_p0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234440"/>
            <a:ext cx="7772400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campanha" descr="/tmp/claude-0/-home-user-test/09b831be-8540-541d-ba93-b647d8c197aa/scratchpad/build/img/g1_p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056" y="1097280"/>
            <a:ext cx="3236976" cy="4489704"/>
          </a:xfrm>
          <a:prstGeom prst="rect">
            <a:avLst/>
          </a:prstGeom>
        </p:spPr>
      </p:pic>
      <p:pic>
        <p:nvPicPr>
          <p:cNvPr id="3" name="Logo AREZZO" descr="/tmp/claude-0/-home-user-test/09b831be-8540-541d-ba93-b647d8c197aa/scratchpad/build/img/logo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652" y="3172968"/>
            <a:ext cx="2843784" cy="512064"/>
          </a:xfrm>
          <a:prstGeom prst="rect">
            <a:avLst/>
          </a:prstGeom>
        </p:spPr>
      </p:pic>
      <p:sp>
        <p:nvSpPr>
          <p:cNvPr id="4" name="Text 2"/>
          <p:cNvSpPr/>
          <p:nvPr>
            <p:ph idx="103" type="body" hasCustomPrompt="1"/>
          </p:nvPr>
        </p:nvSpPr>
        <p:spPr>
          <a:xfrm>
            <a:off x="6364224" y="1188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ESCUTA</a:t>
            </a:r>
            <a:endParaRPr lang="en-US" sz="1100" dirty="0"/>
          </a:p>
        </p:txBody>
      </p:sp>
      <p:sp>
        <p:nvSpPr>
          <p:cNvPr id="5" name="Text 2"/>
          <p:cNvSpPr/>
          <p:nvPr>
            <p:ph idx="104" type="title" hasCustomPrompt="1"/>
          </p:nvPr>
        </p:nvSpPr>
        <p:spPr>
          <a:xfrm>
            <a:off x="6364224" y="1481328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spc="-100" kern="0" dirty="0">
                <a:solidFill>
                  <a:schemeClr val="tx1"/>
                </a:solidFill>
              </a:rPr>
              <a:t>Quatro expectativas</a:t>
            </a:r>
            <a:endParaRPr lang="en-US" sz="4400" dirty="0"/>
          </a:p>
          <a:p>
            <a:pPr algn="l" indent="0" marL="0">
              <a:buNone/>
            </a:pPr>
            <a:r>
              <a:rPr lang="en-US" sz="4400" spc="-100" kern="0" dirty="0">
                <a:solidFill>
                  <a:schemeClr val="tx1"/>
                </a:solidFill>
              </a:rPr>
              <a:t>legítimas</a:t>
            </a:r>
            <a:pPr algn="l" indent="0" marL="0">
              <a:buNone/>
            </a:pPr>
            <a:r>
              <a:rPr lang="en-US" sz="1300" spc="-100" kern="0" dirty="0">
                <a:solidFill>
                  <a:schemeClr val="tx1"/>
                </a:solidFill>
              </a:rPr>
              <a:t>_</a:t>
            </a:r>
            <a:endParaRPr lang="en-US" sz="4400" dirty="0"/>
          </a:p>
        </p:txBody>
      </p:sp>
      <p:sp>
        <p:nvSpPr>
          <p:cNvPr id="6" name="Text 2"/>
          <p:cNvSpPr txBox="1"/>
          <p:nvPr/>
        </p:nvSpPr>
        <p:spPr>
          <a:xfrm>
            <a:off x="6364224" y="3291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spc="-50" kern="0" dirty="0">
                <a:solidFill>
                  <a:schemeClr val="accent3"/>
                </a:solidFill>
              </a:rPr>
              <a:t>ECONOMIA</a:t>
            </a:r>
            <a:endParaRPr lang="en-US" sz="2800" dirty="0"/>
          </a:p>
        </p:txBody>
      </p:sp>
      <p:sp>
        <p:nvSpPr>
          <p:cNvPr id="7" name="Text 3"/>
          <p:cNvSpPr txBox="1"/>
          <p:nvPr/>
        </p:nvSpPr>
        <p:spPr>
          <a:xfrm>
            <a:off x="6364224" y="3822192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Rentabilidade, estoque adequado e previsibilidade.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9107424" y="3291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spc="-50" kern="0" dirty="0">
                <a:solidFill>
                  <a:schemeClr val="accent3"/>
                </a:solidFill>
              </a:rPr>
              <a:t>CANAIS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9107424" y="3822192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Menos conflito de preços e regras claras.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364224" y="4937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spc="-50" kern="0" dirty="0">
                <a:solidFill>
                  <a:schemeClr val="accent3"/>
                </a:solidFill>
              </a:rPr>
              <a:t>SERVIÇO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6364224" y="5468112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Qualidade, logística e atendimento.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9107424" y="4937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spc="-50" kern="0" dirty="0">
                <a:solidFill>
                  <a:schemeClr val="accent3"/>
                </a:solidFill>
              </a:rPr>
              <a:t>PARCERIA</a:t>
            </a:r>
            <a:endParaRPr lang="en-US" sz="2800" dirty="0"/>
          </a:p>
        </p:txBody>
      </p:sp>
      <p:sp>
        <p:nvSpPr>
          <p:cNvPr id="13" name="Text 9"/>
          <p:cNvSpPr txBox="1"/>
          <p:nvPr/>
        </p:nvSpPr>
        <p:spPr>
          <a:xfrm>
            <a:off x="9107424" y="5468112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Proximidade e participação.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campanha" descr="/tmp/claude-0/-home-user-test/09b831be-8540-541d-ba93-b647d8c197aa/scratchpad/build/img/st_p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2008" y="0"/>
            <a:ext cx="5266944" cy="6858000"/>
          </a:xfrm>
          <a:prstGeom prst="rect">
            <a:avLst/>
          </a:prstGeom>
        </p:spPr>
      </p:pic>
      <p:pic>
        <p:nvPicPr>
          <p:cNvPr id="3" name="Logo AREZZO" descr="/tmp/claude-0/-home-user-test/09b831be-8540-541d-ba93-b647d8c197aa/scratchpad/build/img/logo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256" y="3108960"/>
            <a:ext cx="3584448" cy="64922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body" hasCustomPrompt="1"/>
          </p:nvPr>
        </p:nvSpPr>
        <p:spPr>
          <a:xfrm>
            <a:off x="649224" y="4572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600" kern="0" dirty="0">
                <a:solidFill>
                  <a:schemeClr val="accent6"/>
                </a:solidFill>
              </a:rPr>
              <a:t>NOSSO COMPROMISSO</a:t>
            </a:r>
            <a:endParaRPr lang="en-US" sz="14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649224" y="1280160"/>
            <a:ext cx="57607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b="1" spc="100" kern="0" dirty="0">
                <a:solidFill>
                  <a:schemeClr val="accent6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O CRESCIMENTO DA AREZZO&amp;CO PRECISA SIGNIFICAR CRESCIMENTO RENTÁVEL PARA O FRANQUEADO.</a:t>
            </a:r>
            <a:endParaRPr lang="en-US" sz="36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649224" y="5833872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" descr="/tmp/claude-0/-home-user-test/09b831be-8540-541d-ba93-b647d8c197aa/scratchpad/build/img/l1_t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243584"/>
            <a:ext cx="3749040" cy="5614416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2" type="body" hasCustomPrompt="1"/>
          </p:nvPr>
        </p:nvSpPr>
        <p:spPr>
          <a:xfrm>
            <a:off x="5056632" y="868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NOVA RELAÇÃO</a:t>
            </a:r>
            <a:endParaRPr lang="en-US" sz="11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056632" y="1188720"/>
            <a:ext cx="6675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spc="-100" kern="0" dirty="0">
                <a:solidFill>
                  <a:schemeClr val="accent1"/>
                </a:solidFill>
              </a:rPr>
              <a:t>Cinco compromissos</a:t>
            </a:r>
            <a:endParaRPr lang="en-US" sz="4400" dirty="0"/>
          </a:p>
          <a:p>
            <a:pPr algn="l" indent="0" marL="0">
              <a:buNone/>
            </a:pPr>
            <a:r>
              <a:rPr lang="en-US" sz="4400" spc="-100" kern="0" dirty="0">
                <a:solidFill>
                  <a:schemeClr val="accent1"/>
                </a:solidFill>
              </a:rPr>
              <a:t>com a rede</a:t>
            </a:r>
            <a:pPr algn="l" indent="0" marL="0">
              <a:buNone/>
            </a:pPr>
            <a:r>
              <a:rPr lang="en-US" sz="1300" spc="-100" kern="0" dirty="0">
                <a:solidFill>
                  <a:schemeClr val="accent1"/>
                </a:solidFill>
              </a:rPr>
              <a:t>_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056632" y="267919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2"/>
                </a:solidFill>
              </a:rPr>
              <a:t>01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788152" y="2807208"/>
            <a:ext cx="2496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Produto melhor e mais profundidade nos campeões.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67919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2"/>
                </a:solidFill>
              </a:rPr>
              <a:t>02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9235440" y="2807208"/>
            <a:ext cx="2496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Compras ligadas ao sell-out real e ao capital de giro.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056632" y="395935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2"/>
                </a:solidFill>
              </a:rPr>
              <a:t>03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5788152" y="4087368"/>
            <a:ext cx="2496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Revisão das liquidações e conflitos entre canais.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503920" y="395935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2"/>
                </a:solidFill>
              </a:rPr>
              <a:t>04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9235440" y="4087368"/>
            <a:ext cx="2496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Atendimento B2B simples, rastreável e com metas de serviço.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056632" y="523951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2"/>
                </a:solidFill>
              </a:rPr>
              <a:t>05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5788152" y="5367528"/>
            <a:ext cx="2496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Governança com responsáveis, prazos e acompanhamento.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campanha" descr="/tmp/claude-0/-home-user-test/09b831be-8540-541d-ba93-b647d8c197aa/scratchpad/build/img/fb_p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Véu escur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>
              <a:alpha val="55000"/>
            </a:schemeClr>
          </a:solidFill>
          <a:ln/>
        </p:spPr>
      </p:sp>
      <p:sp>
        <p:nvSpPr>
          <p:cNvPr id="4" name="Ícone play"/>
          <p:cNvSpPr/>
          <p:nvPr/>
        </p:nvSpPr>
        <p:spPr>
          <a:xfrm>
            <a:off x="5641848" y="1691640"/>
            <a:ext cx="914400" cy="914400"/>
          </a:xfrm>
          <a:prstGeom prst="ellipse">
            <a:avLst/>
          </a:prstGeom>
          <a:ln w="19050">
            <a:solidFill>
              <a:schemeClr val="accent6"/>
            </a:solidFill>
            <a:prstDash val="solid"/>
          </a:ln>
        </p:spPr>
      </p:sp>
      <p:sp>
        <p:nvSpPr>
          <p:cNvPr id="5" name="Ícone play"/>
          <p:cNvSpPr/>
          <p:nvPr/>
        </p:nvSpPr>
        <p:spPr>
          <a:xfrm rot="5400000">
            <a:off x="5943600" y="1984248"/>
            <a:ext cx="365760" cy="32918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6" name="Text 0"/>
          <p:cNvSpPr/>
          <p:nvPr>
            <p:ph idx="100" type="body" hasCustomPrompt="1"/>
          </p:nvPr>
        </p:nvSpPr>
        <p:spPr>
          <a:xfrm>
            <a:off x="1527048" y="3017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VÍDEO | NOSSA ORIGEM</a:t>
            </a:r>
            <a:endParaRPr lang="en-US" sz="11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1527048" y="33832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chemeClr val="accent6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VÍDEO HISTÓRICO DA AREZZO</a:t>
            </a:r>
            <a:endParaRPr lang="en-US" sz="4000" dirty="0"/>
          </a:p>
        </p:txBody>
      </p:sp>
      <p:sp>
        <p:nvSpPr>
          <p:cNvPr id="8" name="Text 0"/>
          <p:cNvSpPr/>
          <p:nvPr>
            <p:ph idx="102" type="body" hasCustomPrompt="1"/>
          </p:nvPr>
        </p:nvSpPr>
        <p:spPr>
          <a:xfrm>
            <a:off x="1527048" y="4343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chemeClr val="accent6"/>
                </a:solidFill>
              </a:rPr>
              <a:t>PENDENTE: ARQUIVO ORIGINAL UTILIZADO NO CANAL ABERTO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campanha" descr="/tmp/claude-0/-home-user-test/09b831be-8540-541d-ba93-b647d8c197aa/scratchpad/build/img/st_p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2008" y="0"/>
            <a:ext cx="5266944" cy="6858000"/>
          </a:xfrm>
          <a:prstGeom prst="rect">
            <a:avLst/>
          </a:prstGeom>
        </p:spPr>
      </p:pic>
      <p:pic>
        <p:nvPicPr>
          <p:cNvPr id="3" name="Logo AREZZO" descr="/tmp/claude-0/-home-user-test/09b831be-8540-541d-ba93-b647d8c197aa/scratchpad/build/img/logo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256" y="3108960"/>
            <a:ext cx="3584448" cy="64922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body" hasCustomPrompt="1"/>
          </p:nvPr>
        </p:nvSpPr>
        <p:spPr>
          <a:xfrm>
            <a:off x="649224" y="4572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600" kern="0" dirty="0">
                <a:solidFill>
                  <a:schemeClr val="accent1"/>
                </a:solidFill>
              </a:rPr>
              <a:t>PROJETO FORTEZZA</a:t>
            </a:r>
            <a:endParaRPr lang="en-US" sz="14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649224" y="1280160"/>
            <a:ext cx="57607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spc="100" kern="0" dirty="0">
                <a:solidFill>
                  <a:schemeClr val="accent1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IL FUTURO NASCE DALLE NOSTRE ORIGINI.</a:t>
            </a:r>
            <a:endParaRPr lang="en-US" sz="36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649224" y="5833872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O Projeto Fortezza conecta legado e transformação.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EVIDÊNCIA DO PROJETO</a:t>
            </a:r>
            <a:endParaRPr lang="en-US" sz="11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160020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spc="-100" kern="0" dirty="0">
                <a:solidFill>
                  <a:schemeClr val="tx1"/>
                </a:solidFill>
              </a:rPr>
              <a:t>O significado do Projeto Fortezza</a:t>
            </a:r>
            <a:pPr algn="l" indent="0" marL="0">
              <a:buNone/>
            </a:pPr>
            <a:r>
              <a:rPr lang="en-US" sz="1000" spc="-100" kern="0" dirty="0">
                <a:solidFill>
                  <a:schemeClr val="tx1"/>
                </a:solidFill>
              </a:rPr>
              <a:t>_</a:t>
            </a:r>
            <a:endParaRPr lang="en-US" sz="32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548640" y="4069080"/>
            <a:ext cx="28346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Produto, marcas, velocidade, engenharia, sourcing, omnichannel e cultura de execução.</a:t>
            </a:r>
            <a:endParaRPr lang="en-US" sz="1600" dirty="0"/>
          </a:p>
        </p:txBody>
      </p:sp>
      <p:pic>
        <p:nvPicPr>
          <p:cNvPr id="5" name="Imagem de referência" descr="/tmp/claude-0/-home-user-test/09b831be-8540-541d-ba93-b647d8c197aa/scratchpad/build/img/pdf_p0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234440"/>
            <a:ext cx="7772400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o"/>
          <p:cNvSpPr/>
          <p:nvPr/>
        </p:nvSpPr>
        <p:spPr>
          <a:xfrm>
            <a:off x="1067105" y="3291840"/>
            <a:ext cx="10058400" cy="10058400"/>
          </a:xfrm>
          <a:prstGeom prst="ellipse">
            <a:avLst/>
          </a:prstGeom>
          <a:ln w="9525">
            <a:solidFill>
              <a:schemeClr val="accent6"/>
            </a:solidFill>
            <a:prstDash val="solid"/>
          </a:ln>
        </p:spPr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914400" y="11887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spc="-100" kern="0" dirty="0">
                <a:solidFill>
                  <a:schemeClr val="accent6"/>
                </a:solidFill>
              </a:rPr>
              <a:t>Os fundamentos</a:t>
            </a:r>
            <a:endParaRPr lang="en-US" sz="4400" dirty="0"/>
          </a:p>
          <a:p>
            <a:pPr algn="l" indent="0" marL="0">
              <a:buNone/>
            </a:pPr>
            <a:r>
              <a:rPr lang="en-US" sz="4400" spc="-100" kern="0" dirty="0">
                <a:solidFill>
                  <a:schemeClr val="accent6"/>
                </a:solidFill>
              </a:rPr>
              <a:t>da transformação</a:t>
            </a:r>
            <a:pPr algn="l" indent="0" marL="0">
              <a:buNone/>
            </a:pPr>
            <a:r>
              <a:rPr lang="en-US" sz="1300" spc="-100" kern="0" dirty="0">
                <a:solidFill>
                  <a:schemeClr val="accent6"/>
                </a:solidFill>
              </a:rPr>
              <a:t>_</a:t>
            </a:r>
            <a:endParaRPr lang="en-US" sz="4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6583680" y="1325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FORTEZZA NA PRÁTICA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606040" y="4846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PRODUTO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606040" y="5193792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Desejo, qualidade e giro.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4846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MARCAS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5193792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Identidade e relevância.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327648" y="4846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VELOCIDADE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327648" y="5193792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Desenvolver, medir e repor.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065008" y="4846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EXECUÇÃO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065008" y="5193792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Menos burocracia, mais responsabilidade.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xtura key visual" descr="/tmp/claude-0/-home-user-test/09b831be-8540-541d-ba93-b647d8c197aa/scratchpad/build/img/l4_t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pic>
        <p:nvPicPr>
          <p:cNvPr id="3" name="Foto" descr="/tmp/claude-0/-home-user-test/09b831be-8540-541d-ba93-b647d8c197aa/scratchpad/build/img/l4_p2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005840"/>
            <a:ext cx="3931920" cy="4846320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body" hasCustomPrompt="1"/>
          </p:nvPr>
        </p:nvSpPr>
        <p:spPr>
          <a:xfrm>
            <a:off x="5394960" y="8686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FORTEZZA NA PRÁTICA</a:t>
            </a: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394960" y="1170432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spc="-100" kern="0" dirty="0">
                <a:solidFill>
                  <a:schemeClr val="tx1"/>
                </a:solidFill>
              </a:rPr>
              <a:t>O impacto para cada loja</a:t>
            </a:r>
            <a:pPr algn="l" indent="0" marL="0">
              <a:buNone/>
            </a:pPr>
            <a:r>
              <a:rPr lang="en-US" sz="1200" spc="-100" kern="0" dirty="0">
                <a:solidFill>
                  <a:schemeClr val="tx1"/>
                </a:solidFill>
              </a:rPr>
              <a:t>_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5394960" y="2743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01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5394960" y="34015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COMPRA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394960" y="37033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Mix por cluster, região e tamanho.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686800" y="2743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02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0" y="34015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ESTOQUE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8686800" y="37033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OTB vivo e reposição.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394960" y="46817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03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5394960" y="534009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VENDA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394960" y="564184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CRM, omni e checkout.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8686800" y="46817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04</a:t>
            </a:r>
            <a:endParaRPr lang="en-US" sz="3600" dirty="0"/>
          </a:p>
        </p:txBody>
      </p:sp>
      <p:sp>
        <p:nvSpPr>
          <p:cNvPr id="16" name="Text 12"/>
          <p:cNvSpPr txBox="1"/>
          <p:nvPr/>
        </p:nvSpPr>
        <p:spPr>
          <a:xfrm>
            <a:off x="8686800" y="534009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8686800" y="564184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Margem, giro e rentabilidade.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" descr="/tmp/claude-0/-home-user-test/09b831be-8540-541d-ba93-b647d8c197aa/scratchpad/build/img/l3_p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221224" cy="6858000"/>
          </a:xfrm>
          <a:prstGeom prst="rect">
            <a:avLst/>
          </a:prstGeom>
        </p:spPr>
      </p:pic>
      <p:sp>
        <p:nvSpPr>
          <p:cNvPr id="3" name="Véu escuro"/>
          <p:cNvSpPr/>
          <p:nvPr/>
        </p:nvSpPr>
        <p:spPr>
          <a:xfrm>
            <a:off x="0" y="0"/>
            <a:ext cx="5221224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/>
        </p:spPr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2240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6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PRODUTO</a:t>
            </a: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260604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spc="-100" kern="0" dirty="0">
                <a:solidFill>
                  <a:schemeClr val="accent6"/>
                </a:solidFill>
              </a:rPr>
              <a:t>Produto volta</a:t>
            </a:r>
            <a:endParaRPr lang="en-US" sz="4800" dirty="0"/>
          </a:p>
          <a:p>
            <a:pPr algn="l" indent="0" marL="0">
              <a:buNone/>
            </a:pPr>
            <a:r>
              <a:rPr lang="en-US" sz="4800" spc="-100" kern="0" dirty="0">
                <a:solidFill>
                  <a:schemeClr val="accent6"/>
                </a:solidFill>
              </a:rPr>
              <a:t>ao centro</a:t>
            </a:r>
            <a:pPr algn="l" indent="0" marL="0">
              <a:buNone/>
            </a:pPr>
            <a:r>
              <a:rPr lang="en-US" sz="1400" spc="-100" kern="0" dirty="0">
                <a:solidFill>
                  <a:schemeClr val="accent6"/>
                </a:solidFill>
              </a:rPr>
              <a:t>_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10515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accent2"/>
                </a:solidFill>
              </a:rPr>
              <a:t>01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1143000"/>
            <a:ext cx="475488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Key items protagonistas de campanhas e vitrines.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23545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accent2"/>
                </a:solidFill>
              </a:rPr>
              <a:t>02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6949440" y="2446020"/>
            <a:ext cx="475488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Core e basic com função definida e profundidade nos vencedores.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3657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accent2"/>
                </a:solidFill>
              </a:rPr>
              <a:t>03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6949440" y="3749040"/>
            <a:ext cx="475488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Racionalização preliminar de cerca de 25% dos SKUs, após análise de giro.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943600" y="49606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accent2"/>
                </a:solidFill>
              </a:rPr>
              <a:t>04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6949440" y="5052060"/>
            <a:ext cx="475488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Engenharia de preço desde o desenvolvimento, com valor percebido.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EVIDÊNCIA DO PROJETO</a:t>
            </a:r>
            <a:endParaRPr lang="en-US" sz="11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160020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spc="-100" kern="0" dirty="0">
                <a:solidFill>
                  <a:schemeClr val="tx1"/>
                </a:solidFill>
              </a:rPr>
              <a:t>Showroom que ajuda a comprar melhor</a:t>
            </a:r>
            <a:pPr algn="l" indent="0" marL="0">
              <a:buNone/>
            </a:pPr>
            <a:r>
              <a:rPr lang="en-US" sz="1000" spc="-100" kern="0" dirty="0">
                <a:solidFill>
                  <a:schemeClr val="tx1"/>
                </a:solidFill>
              </a:rPr>
              <a:t>_</a:t>
            </a:r>
            <a:endParaRPr lang="en-US" sz="32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548640" y="4069080"/>
            <a:ext cx="28346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Sortimento por clima, perfil da consumidora e tamanho da loja.</a:t>
            </a:r>
            <a:endParaRPr lang="en-US" sz="1600" dirty="0"/>
          </a:p>
        </p:txBody>
      </p:sp>
      <p:pic>
        <p:nvPicPr>
          <p:cNvPr id="5" name="Imagem de referência" descr="/tmp/claude-0/-home-user-test/09b831be-8540-541d-ba93-b647d8c197aa/scratchpad/build/img/pdf_p0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234440"/>
            <a:ext cx="7772400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xtura key visual" descr="/tmp/claude-0/-home-user-test/09b831be-8540-541d-ba93-b647d8c197aa/scratchpad/build/img/g2_t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3296" y="0"/>
            <a:ext cx="4108399" cy="6858000"/>
          </a:xfrm>
          <a:prstGeom prst="rect">
            <a:avLst/>
          </a:prstGeom>
        </p:spPr>
      </p:pic>
      <p:pic>
        <p:nvPicPr>
          <p:cNvPr id="3" name="Foto campanha" descr="/tmp/claude-0/-home-user-test/09b831be-8540-541d-ba93-b647d8c197aa/scratchpad/build/img/g2_p0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584" y="868680"/>
            <a:ext cx="4325112" cy="5129784"/>
          </a:xfrm>
          <a:prstGeom prst="rect">
            <a:avLst/>
          </a:prstGeom>
        </p:spPr>
      </p:pic>
      <p:pic>
        <p:nvPicPr>
          <p:cNvPr id="4" name="Logo AREZZO" descr="/tmp/claude-0/-home-user-test/09b831be-8540-541d-ba93-b647d8c197aa/scratchpad/build/img/logo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3072384"/>
            <a:ext cx="2843784" cy="512064"/>
          </a:xfrm>
          <a:prstGeom prst="rect">
            <a:avLst/>
          </a:prstGeom>
        </p:spPr>
      </p:pic>
      <p:sp>
        <p:nvSpPr>
          <p:cNvPr id="5" name="Text 1"/>
          <p:cNvSpPr/>
          <p:nvPr>
            <p:ph idx="102" type="body" hasCustomPrompt="1"/>
          </p:nvPr>
        </p:nvSpPr>
        <p:spPr>
          <a:xfrm>
            <a:off x="1124712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SUPRIMENTOS</a:t>
            </a:r>
            <a:endParaRPr lang="en-US" sz="1100" dirty="0"/>
          </a:p>
        </p:txBody>
      </p:sp>
      <p:sp>
        <p:nvSpPr>
          <p:cNvPr id="6" name="Text 1"/>
          <p:cNvSpPr/>
          <p:nvPr>
            <p:ph idx="103" type="title" hasCustomPrompt="1"/>
          </p:nvPr>
        </p:nvSpPr>
        <p:spPr>
          <a:xfrm>
            <a:off x="1124712" y="1847088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spc="-100" kern="0" dirty="0">
                <a:solidFill>
                  <a:schemeClr val="tx1"/>
                </a:solidFill>
              </a:rPr>
              <a:t>Planejamento</a:t>
            </a:r>
            <a:endParaRPr lang="en-US" sz="4400" dirty="0"/>
          </a:p>
          <a:p>
            <a:pPr algn="l" indent="0" marL="0">
              <a:buNone/>
            </a:pPr>
            <a:r>
              <a:rPr lang="en-US" sz="4400" spc="-100" kern="0" dirty="0">
                <a:solidFill>
                  <a:schemeClr val="tx1"/>
                </a:solidFill>
              </a:rPr>
              <a:t>começa no sell-out</a:t>
            </a:r>
            <a:pPr algn="l" indent="0" marL="0">
              <a:buNone/>
            </a:pPr>
            <a:r>
              <a:rPr lang="en-US" sz="1300" spc="-100" kern="0" dirty="0">
                <a:solidFill>
                  <a:schemeClr val="tx1"/>
                </a:solidFill>
              </a:rPr>
              <a:t>_</a:t>
            </a:r>
            <a:endParaRPr lang="en-US" sz="4400" dirty="0"/>
          </a:p>
        </p:txBody>
      </p:sp>
      <p:sp>
        <p:nvSpPr>
          <p:cNvPr id="7" name="Text 2"/>
          <p:cNvSpPr txBox="1"/>
          <p:nvPr/>
        </p:nvSpPr>
        <p:spPr>
          <a:xfrm>
            <a:off x="1124712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tx1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DEMANDA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1124712" y="402336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Projetar venda real.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1124712" y="52578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accent2"/>
                </a:solidFill>
              </a:rPr>
              <a:t>01</a:t>
            </a:r>
            <a:endParaRPr lang="en-US" sz="4400" dirty="0"/>
          </a:p>
        </p:txBody>
      </p:sp>
      <p:sp>
        <p:nvSpPr>
          <p:cNvPr id="10" name="Text 5"/>
          <p:cNvSpPr txBox="1"/>
          <p:nvPr/>
        </p:nvSpPr>
        <p:spPr>
          <a:xfrm>
            <a:off x="2587752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tx1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ESTOQUE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2587752" y="402336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Considerar cobertura existente.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2587752" y="52578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accent2"/>
                </a:solidFill>
              </a:rPr>
              <a:t>02</a:t>
            </a:r>
            <a:endParaRPr lang="en-US" sz="4400" dirty="0"/>
          </a:p>
        </p:txBody>
      </p:sp>
      <p:sp>
        <p:nvSpPr>
          <p:cNvPr id="13" name="Text 8"/>
          <p:cNvSpPr txBox="1"/>
          <p:nvPr/>
        </p:nvSpPr>
        <p:spPr>
          <a:xfrm>
            <a:off x="4050792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tx1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OTB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050792" y="402336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Definir compras adequadas.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050792" y="52578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accent2"/>
                </a:solidFill>
              </a:rPr>
              <a:t>03</a:t>
            </a:r>
            <a:endParaRPr lang="en-US" sz="4400" dirty="0"/>
          </a:p>
        </p:txBody>
      </p:sp>
      <p:sp>
        <p:nvSpPr>
          <p:cNvPr id="16" name="Text 11"/>
          <p:cNvSpPr txBox="1"/>
          <p:nvPr/>
        </p:nvSpPr>
        <p:spPr>
          <a:xfrm>
            <a:off x="5513832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tx1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REPOSIÇÃO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5513832" y="402336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Reagir ao giro.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513832" y="52578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accent2"/>
                </a:solidFill>
              </a:rPr>
              <a:t>04</a:t>
            </a:r>
            <a:endParaRPr lang="en-US" sz="4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EVIDÊNCIA DO PROJETO</a:t>
            </a:r>
            <a:endParaRPr lang="en-US" sz="11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160020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spc="-100" kern="0" dirty="0">
                <a:solidFill>
                  <a:schemeClr val="tx1"/>
                </a:solidFill>
              </a:rPr>
              <a:t>Evolução já iniciada no abastecimento</a:t>
            </a:r>
            <a:pPr algn="l" indent="0" marL="0">
              <a:buNone/>
            </a:pPr>
            <a:r>
              <a:rPr lang="en-US" sz="1000" spc="-100" kern="0" dirty="0">
                <a:solidFill>
                  <a:schemeClr val="tx1"/>
                </a:solidFill>
              </a:rPr>
              <a:t>_</a:t>
            </a:r>
            <a:endParaRPr lang="en-US" sz="32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548640" y="4069080"/>
            <a:ext cx="28346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Roadshow registra novo OTB no Alto Verão 2027 e atualização do Sempre Arezzo.</a:t>
            </a:r>
            <a:endParaRPr lang="en-US" sz="1600" dirty="0"/>
          </a:p>
        </p:txBody>
      </p:sp>
      <p:pic>
        <p:nvPicPr>
          <p:cNvPr id="5" name="Imagem de referência" descr="/tmp/claude-0/-home-user-test/09b831be-8540-541d-ba93-b647d8c197aa/scratchpad/build/img/pdf_p0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234440"/>
            <a:ext cx="7772400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xtura key visual" descr="/tmp/claude-0/-home-user-test/09b831be-8540-541d-ba93-b647d8c197aa/scratchpad/build/img/l4_t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pic>
        <p:nvPicPr>
          <p:cNvPr id="3" name="Foto" descr="/tmp/claude-0/-home-user-test/09b831be-8540-541d-ba93-b647d8c197aa/scratchpad/build/img/l4_p1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005840"/>
            <a:ext cx="3931920" cy="4846320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body" hasCustomPrompt="1"/>
          </p:nvPr>
        </p:nvSpPr>
        <p:spPr>
          <a:xfrm>
            <a:off x="5394960" y="8686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FRANQUIAS</a:t>
            </a: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394960" y="1170432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spc="-100" kern="0" dirty="0">
                <a:solidFill>
                  <a:schemeClr val="tx1"/>
                </a:solidFill>
              </a:rPr>
              <a:t>Rentabilidade: olhar</a:t>
            </a:r>
            <a:endParaRPr lang="en-US" sz="4000" dirty="0"/>
          </a:p>
          <a:p>
            <a:pPr algn="l" indent="0" marL="0">
              <a:buNone/>
            </a:pPr>
            <a:r>
              <a:rPr lang="en-US" sz="4000" spc="-100" kern="0" dirty="0">
                <a:solidFill>
                  <a:schemeClr val="tx1"/>
                </a:solidFill>
              </a:rPr>
              <a:t>a economia inteira</a:t>
            </a:r>
            <a:pPr algn="l" indent="0" marL="0">
              <a:buNone/>
            </a:pPr>
            <a:r>
              <a:rPr lang="en-US" sz="1200" spc="-100" kern="0" dirty="0">
                <a:solidFill>
                  <a:schemeClr val="tx1"/>
                </a:solidFill>
              </a:rPr>
              <a:t>_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5394960" y="2743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01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5394960" y="3401568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Diagnóstico de receita, margem, ocupação, estoque e caixa por loja.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686800" y="2743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02</a:t>
            </a:r>
            <a:endParaRPr lang="en-US" sz="3600" dirty="0"/>
          </a:p>
        </p:txBody>
      </p:sp>
      <p:sp>
        <p:nvSpPr>
          <p:cNvPr id="9" name="Text 5"/>
          <p:cNvSpPr txBox="1"/>
          <p:nvPr/>
        </p:nvSpPr>
        <p:spPr>
          <a:xfrm>
            <a:off x="8686800" y="3401568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Proteção de margem com melhor disciplina promocional.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5394960" y="46817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03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5394960" y="5340096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Qualidade e devoluções tratadas nas causas.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686800" y="46817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04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8686800" y="5340096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Programas comerciais avaliados com base em resultado real.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EVIDÊNCIA DO PROJETO</a:t>
            </a:r>
            <a:endParaRPr lang="en-US" sz="11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160020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spc="-100" kern="0" dirty="0">
                <a:solidFill>
                  <a:schemeClr val="tx1"/>
                </a:solidFill>
              </a:rPr>
              <a:t>Programas da rede e seus estágios</a:t>
            </a:r>
            <a:pPr algn="l" indent="0" marL="0">
              <a:buNone/>
            </a:pPr>
            <a:r>
              <a:rPr lang="en-US" sz="1000" spc="-100" kern="0" dirty="0">
                <a:solidFill>
                  <a:schemeClr val="tx1"/>
                </a:solidFill>
              </a:rPr>
              <a:t>_</a:t>
            </a:r>
            <a:endParaRPr lang="en-US" sz="32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548640" y="4069080"/>
            <a:ext cx="28346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Eccelenzza, ZZPartness, Revitalizza e calendário de sell-in constam do plano da rede.</a:t>
            </a:r>
            <a:endParaRPr lang="en-US" sz="1600" dirty="0"/>
          </a:p>
        </p:txBody>
      </p:sp>
      <p:pic>
        <p:nvPicPr>
          <p:cNvPr id="5" name="Imagem de referência" descr="/tmp/claude-0/-home-user-test/09b831be-8540-541d-ba93-b647d8c197aa/scratchpad/build/img/pdf_p0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234440"/>
            <a:ext cx="7772400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campanha" descr="/tmp/claude-0/-home-user-test/09b831be-8540-541d-ba93-b647d8c197aa/scratchpad/build/img/st_p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266944" cy="6858000"/>
          </a:xfrm>
          <a:prstGeom prst="rect">
            <a:avLst/>
          </a:prstGeom>
        </p:spPr>
      </p:pic>
      <p:pic>
        <p:nvPicPr>
          <p:cNvPr id="3" name="Logo AREZZO" descr="/tmp/claude-0/-home-user-test/09b831be-8540-541d-ba93-b647d8c197aa/scratchpad/build/img/logo_bur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108960"/>
            <a:ext cx="3584448" cy="64922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body" hasCustomPrompt="1"/>
          </p:nvPr>
        </p:nvSpPr>
        <p:spPr>
          <a:xfrm>
            <a:off x="5751576" y="4572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600" kern="0" dirty="0">
                <a:solidFill>
                  <a:schemeClr val="accent2"/>
                </a:solidFill>
              </a:rPr>
              <a:t>OMNICANALIDADE</a:t>
            </a:r>
            <a:endParaRPr lang="en-US" sz="14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751576" y="1280160"/>
            <a:ext cx="57607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spc="1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A CLIENTE NÃO ENXERGA CANAIS.</a:t>
            </a:r>
            <a:endParaRPr lang="en-US" sz="36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600" b="1" spc="1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ELA ENXERGA UMA MARCA.</a:t>
            </a:r>
            <a:endParaRPr lang="en-US" sz="36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5751576" y="5833872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A experiência deve ser integrada e o modelo econômico, justo para a rede.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campanha" descr="/tmp/claude-0/-home-user-test/09b831be-8540-541d-ba93-b647d8c197aa/scratchpad/build/img/l6_p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813816"/>
            <a:ext cx="3566160" cy="5175504"/>
          </a:xfrm>
          <a:prstGeom prst="rect">
            <a:avLst/>
          </a:prstGeom>
        </p:spPr>
      </p:pic>
      <p:pic>
        <p:nvPicPr>
          <p:cNvPr id="3" name="Logo AREZZO" descr="/tmp/claude-0/-home-user-test/09b831be-8540-541d-ba93-b647d8c197aa/scratchpad/build/img/logo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188" y="3191256"/>
            <a:ext cx="2843784" cy="512064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9144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OMNI</a:t>
            </a: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640080" y="146304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spc="-100" kern="0" dirty="0">
                <a:solidFill>
                  <a:schemeClr val="tx1"/>
                </a:solidFill>
              </a:rPr>
              <a:t>Uma jornada</a:t>
            </a:r>
            <a:endParaRPr lang="en-US" sz="4000" dirty="0"/>
          </a:p>
          <a:p>
            <a:pPr algn="l" indent="0" marL="0">
              <a:buNone/>
            </a:pPr>
            <a:r>
              <a:rPr lang="en-US" sz="4000" spc="-100" kern="0" dirty="0">
                <a:solidFill>
                  <a:schemeClr val="tx1"/>
                </a:solidFill>
              </a:rPr>
              <a:t>sem fricções</a:t>
            </a:r>
            <a:pPr algn="l" indent="0" marL="0">
              <a:buNone/>
            </a:pPr>
            <a:r>
              <a:rPr lang="en-US" sz="1200" spc="-100" kern="0" dirty="0">
                <a:solidFill>
                  <a:schemeClr val="tx1"/>
                </a:solidFill>
              </a:rPr>
              <a:t>_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8412480" y="9144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8412480" y="120700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Políticas de preço e campanhas coordenadas entre físico e digital.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8412480" y="21762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8412480" y="24688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Estoque integrado com regras transparentes de disponibilidade.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412480" y="34381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8412480" y="373075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Ship-from-store, prateleira infinita e trocas omni após pilotos.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8412480" y="470001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04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412480" y="4992624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Experiência melhor para a cliente e economia sustentável para a rede.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ARQUIVO HISTÓRICO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60020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spc="-100" kern="0" dirty="0">
                <a:solidFill>
                  <a:schemeClr val="tx1"/>
                </a:solidFill>
              </a:rPr>
              <a:t>Já imaginávamos o varejo de amanhã</a:t>
            </a:r>
            <a:pPr algn="l" indent="0" marL="0">
              <a:buNone/>
            </a:pPr>
            <a:r>
              <a:rPr lang="en-US" sz="1000" spc="-100" kern="0" dirty="0">
                <a:solidFill>
                  <a:schemeClr val="tx1"/>
                </a:solidFill>
              </a:rPr>
              <a:t>_</a:t>
            </a:r>
            <a:endParaRPr lang="en-US" sz="32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4069080"/>
            <a:ext cx="28346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Roadmap histórico previa checkout, RFID, integração online/offline e AI. Agora precisamos concluir e medir.</a:t>
            </a:r>
            <a:endParaRPr lang="en-US" sz="1600" dirty="0"/>
          </a:p>
        </p:txBody>
      </p:sp>
      <p:pic>
        <p:nvPicPr>
          <p:cNvPr id="5" name="Imagem de referência" descr="/tmp/claude-0/-home-user-test/09b831be-8540-541d-ba93-b647d8c197aa/scratchpad/build/img/pdf_p03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234440"/>
            <a:ext cx="7772400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xtura key visual" descr="/tmp/claude-0/-home-user-test/09b831be-8540-541d-ba93-b647d8c197aa/scratchpad/build/img/g5_t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0"/>
            <a:ext cx="7345375" cy="283464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22376" y="114300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spc="-100" kern="0" dirty="0">
                <a:solidFill>
                  <a:schemeClr val="tx1"/>
                </a:solidFill>
              </a:rPr>
              <a:t>A loja do</a:t>
            </a:r>
            <a:endParaRPr lang="en-US" sz="4000" dirty="0"/>
          </a:p>
          <a:p>
            <a:pPr algn="l" indent="0" marL="0">
              <a:buNone/>
            </a:pPr>
            <a:r>
              <a:rPr lang="en-US" sz="4000" spc="-100" kern="0" dirty="0">
                <a:solidFill>
                  <a:schemeClr val="tx1"/>
                </a:solidFill>
              </a:rPr>
              <a:t>futuro, na</a:t>
            </a:r>
            <a:endParaRPr lang="en-US" sz="4000" dirty="0"/>
          </a:p>
          <a:p>
            <a:pPr algn="l" indent="0" marL="0">
              <a:buNone/>
            </a:pPr>
            <a:r>
              <a:rPr lang="en-US" sz="4000" spc="-100" kern="0" dirty="0">
                <a:solidFill>
                  <a:schemeClr val="tx1"/>
                </a:solidFill>
              </a:rPr>
              <a:t>prática</a:t>
            </a:r>
            <a:pPr algn="l" indent="0" marL="0">
              <a:buNone/>
            </a:pPr>
            <a:r>
              <a:rPr lang="en-US" sz="1200" spc="-100" kern="0" dirty="0">
                <a:solidFill>
                  <a:schemeClr val="tx1"/>
                </a:solidFill>
              </a:rPr>
              <a:t>_</a:t>
            </a:r>
            <a:endParaRPr lang="en-US" sz="4000" dirty="0"/>
          </a:p>
        </p:txBody>
      </p:sp>
      <p:sp>
        <p:nvSpPr>
          <p:cNvPr id="4" name="Rótulo"/>
          <p:cNvSpPr/>
          <p:nvPr/>
        </p:nvSpPr>
        <p:spPr>
          <a:xfrm>
            <a:off x="777240" y="3246120"/>
            <a:ext cx="1783080" cy="365760"/>
          </a:xfrm>
          <a:prstGeom prst="roundRect">
            <a:avLst>
              <a:gd name="adj" fmla="val 50000"/>
            </a:avLst>
          </a:prstGeom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EXPERIÊNCIA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120640" y="32918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01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4023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ENTRADA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120640" y="434340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Identificação voluntária por CPF.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32918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02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6858000" y="4023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ATENDIMENTO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858000" y="434340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Preferências e histórico autorizado.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595360" y="32918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03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8595360" y="4023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PRODUTO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595360" y="434340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Consulta à rede e alternativas.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332720" y="32918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04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10332720" y="4023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CHECKOUT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0332720" y="434340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Pagamento no local da prova.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" descr="/tmp/claude-0/-home-user-test/09b831be-8540-541d-ba93-b647d8c197aa/scratchpad/build/img/l2_p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0944" y="1664208"/>
            <a:ext cx="4005072" cy="5193792"/>
          </a:xfrm>
          <a:prstGeom prst="rect">
            <a:avLst/>
          </a:prstGeom>
        </p:spPr>
      </p:pic>
      <p:sp>
        <p:nvSpPr>
          <p:cNvPr id="3" name="Text 6"/>
          <p:cNvSpPr/>
          <p:nvPr>
            <p:ph idx="107" type="body" hasCustomPrompt="1"/>
          </p:nvPr>
        </p:nvSpPr>
        <p:spPr>
          <a:xfrm>
            <a:off x="493776" y="17830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AI FIRST</a:t>
            </a:r>
            <a:endParaRPr lang="en-US" sz="1100" dirty="0"/>
          </a:p>
        </p:txBody>
      </p:sp>
      <p:sp>
        <p:nvSpPr>
          <p:cNvPr id="4" name="Text 6"/>
          <p:cNvSpPr/>
          <p:nvPr>
            <p:ph idx="108" type="title" hasCustomPrompt="1"/>
          </p:nvPr>
        </p:nvSpPr>
        <p:spPr>
          <a:xfrm>
            <a:off x="493776" y="260604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spc="-100" kern="0" dirty="0">
                <a:solidFill>
                  <a:schemeClr val="tx1"/>
                </a:solidFill>
              </a:rPr>
              <a:t>AI First: exemplos para a rede</a:t>
            </a:r>
            <a:pPr algn="l" indent="0" marL="0">
              <a:buNone/>
            </a:pPr>
            <a:r>
              <a:rPr lang="en-US" sz="900" spc="-100" kern="0" dirty="0">
                <a:solidFill>
                  <a:schemeClr val="tx1"/>
                </a:solidFill>
              </a:rPr>
              <a:t>_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986016" y="1664208"/>
            <a:ext cx="694944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1755648"/>
            <a:ext cx="3931920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Atendimento B2B com triagem automática e acompanhamento de chamados.</a:t>
            </a:r>
            <a:endParaRPr lang="en-US" sz="1600" dirty="0"/>
          </a:p>
        </p:txBody>
      </p:sp>
      <p:sp>
        <p:nvSpPr>
          <p:cNvPr id="7" name="Fio"/>
          <p:cNvSpPr/>
          <p:nvPr/>
        </p:nvSpPr>
        <p:spPr>
          <a:xfrm>
            <a:off x="6986016" y="2702966"/>
            <a:ext cx="5205679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86016" y="2702966"/>
            <a:ext cx="694944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02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2794406"/>
            <a:ext cx="3931920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Sugestões de reposição por giro, cobertura e ruptura.</a:t>
            </a:r>
            <a:endParaRPr lang="en-US" sz="1600" dirty="0"/>
          </a:p>
        </p:txBody>
      </p:sp>
      <p:sp>
        <p:nvSpPr>
          <p:cNvPr id="10" name="Fio"/>
          <p:cNvSpPr/>
          <p:nvPr/>
        </p:nvSpPr>
        <p:spPr>
          <a:xfrm>
            <a:off x="6986016" y="3741725"/>
            <a:ext cx="5205679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86016" y="3741725"/>
            <a:ext cx="694944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03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3833165"/>
            <a:ext cx="3931920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CRM com segmentação, recomendação e campanhas personalizadas.</a:t>
            </a:r>
            <a:endParaRPr lang="en-US" sz="1600" dirty="0"/>
          </a:p>
        </p:txBody>
      </p:sp>
      <p:sp>
        <p:nvSpPr>
          <p:cNvPr id="13" name="Fio"/>
          <p:cNvSpPr/>
          <p:nvPr/>
        </p:nvSpPr>
        <p:spPr>
          <a:xfrm>
            <a:off x="6986016" y="4780483"/>
            <a:ext cx="5205679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86016" y="4780483"/>
            <a:ext cx="694944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04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871923"/>
            <a:ext cx="3931920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Análise de devoluções, qualidade e reclamações.</a:t>
            </a:r>
            <a:endParaRPr lang="en-US" sz="1600" dirty="0"/>
          </a:p>
        </p:txBody>
      </p:sp>
      <p:sp>
        <p:nvSpPr>
          <p:cNvPr id="16" name="Fio"/>
          <p:cNvSpPr/>
          <p:nvPr/>
        </p:nvSpPr>
        <p:spPr>
          <a:xfrm>
            <a:off x="6986016" y="5819242"/>
            <a:ext cx="5205679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86016" y="5819242"/>
            <a:ext cx="694944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05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7955280" y="5910682"/>
            <a:ext cx="3931920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Painéis para orientar a gestão diária da loja.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EVIDÊNCIA DO PROJETO</a:t>
            </a:r>
            <a:endParaRPr lang="en-US" sz="11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160020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spc="-100" kern="0" dirty="0">
                <a:solidFill>
                  <a:schemeClr val="tx1"/>
                </a:solidFill>
              </a:rPr>
              <a:t>ZZnet 2.0: jornada e prazos indicativos</a:t>
            </a:r>
            <a:pPr algn="l" indent="0" marL="0">
              <a:buNone/>
            </a:pPr>
            <a:r>
              <a:rPr lang="en-US" sz="1000" spc="-100" kern="0" dirty="0">
                <a:solidFill>
                  <a:schemeClr val="tx1"/>
                </a:solidFill>
              </a:rPr>
              <a:t>_</a:t>
            </a:r>
            <a:endParaRPr lang="en-US" sz="32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548640" y="4069080"/>
            <a:ext cx="28346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Dados 0–30 dias; cadastro 31–60; piloto 61–120; primeira versão 121–180. Sujeito à validação técnica.</a:t>
            </a:r>
            <a:endParaRPr lang="en-US" sz="1600" dirty="0"/>
          </a:p>
        </p:txBody>
      </p:sp>
      <p:pic>
        <p:nvPicPr>
          <p:cNvPr id="5" name="Imagem de referência" descr="/tmp/claude-0/-home-user-test/09b831be-8540-541d-ba93-b647d8c197aa/scratchpad/build/img/pdf_p03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234440"/>
            <a:ext cx="7772400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xtura key visual" descr="/tmp/claude-0/-home-user-test/09b831be-8540-541d-ba93-b647d8c197aa/scratchpad/build/img/g6_t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888736" cy="4663440"/>
          </a:xfrm>
          <a:prstGeom prst="rect">
            <a:avLst/>
          </a:prstGeom>
        </p:spPr>
      </p:pic>
      <p:sp>
        <p:nvSpPr>
          <p:cNvPr id="3" name="Text 2"/>
          <p:cNvSpPr/>
          <p:nvPr>
            <p:ph idx="102" type="title" hasCustomPrompt="1"/>
          </p:nvPr>
        </p:nvSpPr>
        <p:spPr>
          <a:xfrm>
            <a:off x="768096" y="49834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spc="-100" kern="0" dirty="0">
                <a:solidFill>
                  <a:schemeClr val="tx1"/>
                </a:solidFill>
              </a:rPr>
              <a:t>De vários cadastros</a:t>
            </a:r>
            <a:endParaRPr lang="en-US" sz="3600" dirty="0"/>
          </a:p>
          <a:p>
            <a:pPr algn="l" indent="0" marL="0">
              <a:buNone/>
            </a:pPr>
            <a:r>
              <a:rPr lang="en-US" sz="3600" spc="-100" kern="0" dirty="0">
                <a:solidFill>
                  <a:schemeClr val="tx1"/>
                </a:solidFill>
              </a:rPr>
              <a:t>a uma relação única</a:t>
            </a:r>
            <a:pPr algn="l" indent="0" marL="0">
              <a:buNone/>
            </a:pPr>
            <a:r>
              <a:rPr lang="en-US" sz="1100" spc="-100" kern="0" dirty="0">
                <a:solidFill>
                  <a:schemeClr val="tx1"/>
                </a:solidFill>
              </a:rPr>
              <a:t>_</a:t>
            </a:r>
            <a:endParaRPr lang="en-US" sz="36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6702552" y="498348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spc="-100" kern="0" dirty="0">
                <a:solidFill>
                  <a:schemeClr val="accent1"/>
                </a:solidFill>
              </a:rPr>
              <a:t>ZZNET 2.0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309360" y="11887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tx1"/>
                </a:solidFill>
              </a:rPr>
              <a:t>01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21488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tx1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HOJE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2468880"/>
            <a:ext cx="12984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Financeiro, SAF e consultoria fragmentados.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44968" y="11887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tx1"/>
                </a:solidFill>
              </a:rPr>
              <a:t>02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7744968" y="21488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tx1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BASE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44968" y="2468880"/>
            <a:ext cx="12984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Identidade única e governança.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180576" y="11887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tx1"/>
                </a:solidFill>
              </a:rPr>
              <a:t>03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9180576" y="21488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tx1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SERVIÇO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180576" y="2468880"/>
            <a:ext cx="12984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Pedidos, créditos e chamados.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0616184" y="11887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tx1"/>
                </a:solidFill>
              </a:rPr>
              <a:t>04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10616184" y="21488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tx1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EVOLUÇÃO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0616184" y="2468880"/>
            <a:ext cx="12984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Wallet e inteligência comercial.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campanha" descr="/tmp/claude-0/-home-user-test/09b831be-8540-541d-ba93-b647d8c197aa/scratchpad/build/img/st_p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2008" y="0"/>
            <a:ext cx="5266944" cy="6858000"/>
          </a:xfrm>
          <a:prstGeom prst="rect">
            <a:avLst/>
          </a:prstGeom>
        </p:spPr>
      </p:pic>
      <p:pic>
        <p:nvPicPr>
          <p:cNvPr id="3" name="Logo AREZZO" descr="/tmp/claude-0/-home-user-test/09b831be-8540-541d-ba93-b647d8c197aa/scratchpad/build/img/logo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256" y="3108960"/>
            <a:ext cx="3584448" cy="64922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body" hasCustomPrompt="1"/>
          </p:nvPr>
        </p:nvSpPr>
        <p:spPr>
          <a:xfrm>
            <a:off x="649224" y="4572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600" kern="0" dirty="0">
                <a:solidFill>
                  <a:schemeClr val="accent6"/>
                </a:solidFill>
              </a:rPr>
              <a:t>SIMPLIFICAÇÃO</a:t>
            </a:r>
            <a:endParaRPr lang="en-US" sz="14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649224" y="1280160"/>
            <a:ext cx="57607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spc="100" kern="0" dirty="0">
                <a:solidFill>
                  <a:schemeClr val="accent6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TECNOLOGIA BOA É A QUE LIBERA A VENDEDORA PARA VENDER.</a:t>
            </a:r>
            <a:endParaRPr lang="en-US" sz="36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649224" y="5833872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E libera o franqueado para gerir o seu negócio.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xtura key visual" descr="/tmp/claude-0/-home-user-test/09b831be-8540-541d-ba93-b647d8c197aa/scratchpad/build/img/l4_t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pic>
        <p:nvPicPr>
          <p:cNvPr id="3" name="Foto" descr="/tmp/claude-0/-home-user-test/09b831be-8540-541d-ba93-b647d8c197aa/scratchpad/build/img/l4_p0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005840"/>
            <a:ext cx="3931920" cy="4846320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body" hasCustomPrompt="1"/>
          </p:nvPr>
        </p:nvSpPr>
        <p:spPr>
          <a:xfrm>
            <a:off x="5394960" y="8686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RIGHTS | CONCEITO A DEFINIR</a:t>
            </a: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394960" y="1170432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spc="-100" kern="0" dirty="0">
                <a:solidFill>
                  <a:schemeClr val="tx1"/>
                </a:solidFill>
              </a:rPr>
              <a:t>Rights no sell-out:</a:t>
            </a:r>
            <a:endParaRPr lang="en-US" sz="4000" dirty="0"/>
          </a:p>
          <a:p>
            <a:pPr algn="l" indent="0" marL="0">
              <a:buNone/>
            </a:pPr>
            <a:r>
              <a:rPr lang="en-US" sz="4000" spc="-100" kern="0" dirty="0">
                <a:solidFill>
                  <a:schemeClr val="tx1"/>
                </a:solidFill>
              </a:rPr>
              <a:t>proposta para validação</a:t>
            </a:r>
            <a:pPr algn="l" indent="0" marL="0">
              <a:buNone/>
            </a:pPr>
            <a:r>
              <a:rPr lang="en-US" sz="1200" spc="-100" kern="0" dirty="0">
                <a:solidFill>
                  <a:schemeClr val="tx1"/>
                </a:solidFill>
              </a:rPr>
              <a:t>_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5394960" y="2743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01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5394960" y="3401568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Criar regras transparentes de atribuição das vendas entre canais.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686800" y="2743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02</a:t>
            </a:r>
            <a:endParaRPr lang="en-US" sz="3600" dirty="0"/>
          </a:p>
        </p:txBody>
      </p:sp>
      <p:sp>
        <p:nvSpPr>
          <p:cNvPr id="9" name="Text 5"/>
          <p:cNvSpPr txBox="1"/>
          <p:nvPr/>
        </p:nvSpPr>
        <p:spPr>
          <a:xfrm>
            <a:off x="8686800" y="3401568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Proteger o parceiro que atende a cliente, mesmo com estoque de outro ponto.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5394960" y="46817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03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5394960" y="5340096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Definir direitos, responsabilidades e eventuais compensações com a rede.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686800" y="46817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04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8686800" y="5340096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Validar critérios jurídicos, econômicos e operacionais antes de anunciar regras.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" descr="/tmp/claude-0/-home-user-test/09b831be-8540-541d-ba93-b647d8c197aa/scratchpad/build/img/l1_t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243584"/>
            <a:ext cx="3749040" cy="5614416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2" type="body" hasCustomPrompt="1"/>
          </p:nvPr>
        </p:nvSpPr>
        <p:spPr>
          <a:xfrm>
            <a:off x="5056632" y="868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PROJETO CHINA</a:t>
            </a:r>
            <a:endParaRPr lang="en-US" sz="11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056632" y="1188720"/>
            <a:ext cx="6675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spc="-100" kern="0" dirty="0">
                <a:solidFill>
                  <a:schemeClr val="accent1"/>
                </a:solidFill>
              </a:rPr>
              <a:t>China: ampliar nossa</a:t>
            </a:r>
            <a:endParaRPr lang="en-US" sz="4400" dirty="0"/>
          </a:p>
          <a:p>
            <a:pPr algn="l" indent="0" marL="0">
              <a:buNone/>
            </a:pPr>
            <a:r>
              <a:rPr lang="en-US" sz="4400" spc="-100" kern="0" dirty="0">
                <a:solidFill>
                  <a:schemeClr val="accent1"/>
                </a:solidFill>
              </a:rPr>
              <a:t>capacidade de competir</a:t>
            </a:r>
            <a:pPr algn="l" indent="0" marL="0">
              <a:buNone/>
            </a:pPr>
            <a:r>
              <a:rPr lang="en-US" sz="1300" spc="-100" kern="0" dirty="0">
                <a:solidFill>
                  <a:schemeClr val="accent1"/>
                </a:solidFill>
              </a:rPr>
              <a:t>_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056632" y="290779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2"/>
                </a:solidFill>
              </a:rPr>
              <a:t>01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788152" y="3035808"/>
            <a:ext cx="2496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Viagem prevista para o fim de outubro e início de novembro de 2026.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90779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2"/>
                </a:solidFill>
              </a:rPr>
              <a:t>02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9235440" y="3035808"/>
            <a:ext cx="2496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Buscar materiais, componentes, calçados, bolsas e novas categorias.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056632" y="450799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2"/>
                </a:solidFill>
              </a:rPr>
              <a:t>03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5788152" y="4636008"/>
            <a:ext cx="2496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Comparar qualidade, custo, capacidade produtiva e lead time.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503920" y="450799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2"/>
                </a:solidFill>
              </a:rPr>
              <a:t>04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9235440" y="4636008"/>
            <a:ext cx="2496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Trazer tecnologia, fornecedores e opções para acelerar desenvolvimento e reposição.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EVIDÊNCIA DO PROJETO</a:t>
            </a:r>
            <a:endParaRPr lang="en-US" sz="11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160020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spc="-100" kern="0" dirty="0">
                <a:solidFill>
                  <a:schemeClr val="tx1"/>
                </a:solidFill>
              </a:rPr>
              <a:t>Organização mais horizontal e próxima do CEO</a:t>
            </a:r>
            <a:pPr algn="l" indent="0" marL="0">
              <a:buNone/>
            </a:pPr>
            <a:r>
              <a:rPr lang="en-US" sz="1000" spc="-100" kern="0" dirty="0">
                <a:solidFill>
                  <a:schemeClr val="tx1"/>
                </a:solidFill>
              </a:rPr>
              <a:t>_</a:t>
            </a:r>
            <a:endParaRPr lang="en-US" sz="32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548640" y="4069080"/>
            <a:ext cx="28346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Estrutura executiva em revisão: menos camadas, responsabilidades claras e liderança mais próxima da operação.</a:t>
            </a:r>
            <a:endParaRPr lang="en-US" sz="1600" dirty="0"/>
          </a:p>
        </p:txBody>
      </p:sp>
      <p:pic>
        <p:nvPicPr>
          <p:cNvPr id="5" name="Imagem de referência" descr="/tmp/claude-0/-home-user-test/09b831be-8540-541d-ba93-b647d8c197aa/scratchpad/build/img/pdf_p03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234440"/>
            <a:ext cx="7772400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" descr="/tmp/claude-0/-home-user-test/09b831be-8540-541d-ba93-b647d8c197aa/scratchpad/build/img/l3_p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221224" cy="6858000"/>
          </a:xfrm>
          <a:prstGeom prst="rect">
            <a:avLst/>
          </a:prstGeom>
        </p:spPr>
      </p:pic>
      <p:sp>
        <p:nvSpPr>
          <p:cNvPr id="3" name="Véu escuro"/>
          <p:cNvSpPr/>
          <p:nvPr/>
        </p:nvSpPr>
        <p:spPr>
          <a:xfrm>
            <a:off x="0" y="0"/>
            <a:ext cx="5221224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/>
        </p:spPr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2240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6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NOVA ORGANIZAÇÃO</a:t>
            </a: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260604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spc="-100" kern="0" dirty="0">
                <a:solidFill>
                  <a:schemeClr val="accent6"/>
                </a:solidFill>
              </a:rPr>
              <a:t>Quem lidera</a:t>
            </a:r>
            <a:endParaRPr lang="en-US" sz="4800" dirty="0"/>
          </a:p>
          <a:p>
            <a:pPr algn="l" indent="0" marL="0">
              <a:buNone/>
            </a:pPr>
            <a:r>
              <a:rPr lang="en-US" sz="4800" spc="-100" kern="0" dirty="0">
                <a:solidFill>
                  <a:schemeClr val="accent6"/>
                </a:solidFill>
              </a:rPr>
              <a:t>a execução</a:t>
            </a:r>
            <a:pPr algn="l" indent="0" marL="0">
              <a:buNone/>
            </a:pPr>
            <a:r>
              <a:rPr lang="en-US" sz="1400" spc="-100" kern="0" dirty="0">
                <a:solidFill>
                  <a:schemeClr val="accent6"/>
                </a:solidFill>
              </a:rPr>
              <a:t>_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1179576"/>
            <a:ext cx="21031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ALEXANDRE BIRMAN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1143000"/>
            <a:ext cx="3520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Liderança executiva e acompanhamento direto do negócio.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2221992"/>
            <a:ext cx="21031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RAFAELA FURLANETTO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185416"/>
            <a:ext cx="3520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Produto, desenvolvimento e marketing.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3264408"/>
            <a:ext cx="21031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DANIELA BILEIRO E PRISCILA SIMON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3227832"/>
            <a:ext cx="3520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Marcas e operação comercial.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943600" y="4306824"/>
            <a:ext cx="21031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SIMONE NOGUEIRA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4270248"/>
            <a:ext cx="3520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Inteligência comercial, serviço B2B e transformação.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0" y="5349240"/>
            <a:ext cx="21031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ERIC ALENCAR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5312664"/>
            <a:ext cx="3520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Finanças e infraestrutura; equipes digitais por marca.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" descr="/tmp/claude-0/-home-user-test/09b831be-8540-541d-ba93-b647d8c197aa/scratchpad/build/img/l2_p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0944" y="1664208"/>
            <a:ext cx="4005072" cy="5193792"/>
          </a:xfrm>
          <a:prstGeom prst="rect">
            <a:avLst/>
          </a:prstGeom>
        </p:spPr>
      </p:pic>
      <p:sp>
        <p:nvSpPr>
          <p:cNvPr id="3" name="Text 6"/>
          <p:cNvSpPr/>
          <p:nvPr>
            <p:ph idx="107" type="body" hasCustomPrompt="1"/>
          </p:nvPr>
        </p:nvSpPr>
        <p:spPr>
          <a:xfrm>
            <a:off x="493776" y="17830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STATUS | SEM PROMESSAS NÃO VALIDADAS</a:t>
            </a:r>
            <a:endParaRPr lang="en-US" sz="1100" dirty="0"/>
          </a:p>
        </p:txBody>
      </p:sp>
      <p:sp>
        <p:nvSpPr>
          <p:cNvPr id="4" name="Text 6"/>
          <p:cNvSpPr/>
          <p:nvPr>
            <p:ph idx="108" type="title" hasCustomPrompt="1"/>
          </p:nvPr>
        </p:nvSpPr>
        <p:spPr>
          <a:xfrm>
            <a:off x="493776" y="260604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spc="-100" kern="0" dirty="0">
                <a:solidFill>
                  <a:schemeClr val="tx1"/>
                </a:solidFill>
              </a:rPr>
              <a:t>O que já começou e o que vem depois</a:t>
            </a:r>
            <a:pPr algn="l" indent="0" marL="0">
              <a:buNone/>
            </a:pPr>
            <a:r>
              <a:rPr lang="en-US" sz="900" spc="-100" kern="0" dirty="0">
                <a:solidFill>
                  <a:schemeClr val="tx1"/>
                </a:solidFill>
              </a:rPr>
              <a:t>_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986016" y="1664208"/>
            <a:ext cx="6949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1755648"/>
            <a:ext cx="3931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EM ANDAMENTO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Novo modelo OTB e revisão do calendário comercial.</a:t>
            </a:r>
            <a:endParaRPr lang="en-US" sz="1600" dirty="0"/>
          </a:p>
        </p:txBody>
      </p:sp>
      <p:sp>
        <p:nvSpPr>
          <p:cNvPr id="7" name="Fio"/>
          <p:cNvSpPr/>
          <p:nvPr/>
        </p:nvSpPr>
        <p:spPr>
          <a:xfrm>
            <a:off x="6986016" y="2962656"/>
            <a:ext cx="5205679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86016" y="2962656"/>
            <a:ext cx="6949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02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3054096"/>
            <a:ext cx="3931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PRIORIDADE IMEDIATA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Qualidade, rentabilidade, política promocional e escuta.</a:t>
            </a:r>
            <a:endParaRPr lang="en-US" sz="1600" dirty="0"/>
          </a:p>
        </p:txBody>
      </p:sp>
      <p:sp>
        <p:nvSpPr>
          <p:cNvPr id="10" name="Fio"/>
          <p:cNvSpPr/>
          <p:nvPr/>
        </p:nvSpPr>
        <p:spPr>
          <a:xfrm>
            <a:off x="6986016" y="4261104"/>
            <a:ext cx="5205679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86016" y="4261104"/>
            <a:ext cx="6949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03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4352544"/>
            <a:ext cx="3931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PILOTOS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Checkout móvel, integração de estoque, CRM e ZZnet 2.0.</a:t>
            </a:r>
            <a:endParaRPr lang="en-US" sz="1600" dirty="0"/>
          </a:p>
        </p:txBody>
      </p:sp>
      <p:sp>
        <p:nvSpPr>
          <p:cNvPr id="13" name="Fio"/>
          <p:cNvSpPr/>
          <p:nvPr/>
        </p:nvSpPr>
        <p:spPr>
          <a:xfrm>
            <a:off x="6986016" y="5559552"/>
            <a:ext cx="5205679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86016" y="5559552"/>
            <a:ext cx="6949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04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5650992"/>
            <a:ext cx="3931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ESTRUTURAL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Sourcing, logística, dados e AI First.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EVIDÊNCIA DO PROJETO</a:t>
            </a:r>
            <a:endParaRPr lang="en-US" sz="11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160020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spc="-100" kern="0" dirty="0">
                <a:solidFill>
                  <a:schemeClr val="tx1"/>
                </a:solidFill>
              </a:rPr>
              <a:t>Plano de ação já organizado por prioridade</a:t>
            </a:r>
            <a:pPr algn="l" indent="0" marL="0">
              <a:buNone/>
            </a:pPr>
            <a:r>
              <a:rPr lang="en-US" sz="1000" spc="-100" kern="0" dirty="0">
                <a:solidFill>
                  <a:schemeClr val="tx1"/>
                </a:solidFill>
              </a:rPr>
              <a:t>_</a:t>
            </a:r>
            <a:endParaRPr lang="en-US" sz="32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548640" y="4069080"/>
            <a:ext cx="28346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roadshow contém responsáveis, indicadores e prazos propostos. Revalidar datas e status antes de divulgação.</a:t>
            </a:r>
            <a:endParaRPr lang="en-US" sz="1600" dirty="0"/>
          </a:p>
        </p:txBody>
      </p:sp>
      <p:pic>
        <p:nvPicPr>
          <p:cNvPr id="5" name="Imagem de referência" descr="/tmp/claude-0/-home-user-test/09b831be-8540-541d-ba93-b647d8c197aa/scratchpad/build/img/pdf_p04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234440"/>
            <a:ext cx="7772400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campanha" descr="/tmp/claude-0/-home-user-test/09b831be-8540-541d-ba93-b647d8c197aa/scratchpad/build/img/st_p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2008" y="0"/>
            <a:ext cx="5266944" cy="6858000"/>
          </a:xfrm>
          <a:prstGeom prst="rect">
            <a:avLst/>
          </a:prstGeom>
        </p:spPr>
      </p:pic>
      <p:pic>
        <p:nvPicPr>
          <p:cNvPr id="3" name="Logo AREZZO" descr="/tmp/claude-0/-home-user-test/09b831be-8540-541d-ba93-b647d8c197aa/scratchpad/build/img/logo_bur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256" y="3108960"/>
            <a:ext cx="3584448" cy="64922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body" hasCustomPrompt="1"/>
          </p:nvPr>
        </p:nvSpPr>
        <p:spPr>
          <a:xfrm>
            <a:off x="649224" y="4572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600" kern="0" dirty="0">
                <a:solidFill>
                  <a:schemeClr val="accent1"/>
                </a:solidFill>
              </a:rPr>
              <a:t>COMPROMISSO</a:t>
            </a:r>
            <a:endParaRPr lang="en-US" sz="14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649224" y="1280160"/>
            <a:ext cx="57607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spc="100" kern="0" dirty="0">
                <a:solidFill>
                  <a:schemeClr val="accent1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A CONFIANÇA NÃO SERÁ RECUPERADA POR UMA APRESENTAÇÃO.</a:t>
            </a:r>
            <a:endParaRPr lang="en-US" sz="36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649224" y="5833872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Será recuperada por decisões, entregas e resultados, loja por loja.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xtura key visual" descr="/tmp/claude-0/-home-user-test/09b831be-8540-541d-ba93-b647d8c197aa/scratchpad/build/img/tx_di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266944" cy="6858000"/>
          </a:xfrm>
          <a:prstGeom prst="rect">
            <a:avLst/>
          </a:prstGeom>
        </p:spPr>
      </p:pic>
      <p:sp>
        <p:nvSpPr>
          <p:cNvPr id="3" name="Véu da textura"/>
          <p:cNvSpPr/>
          <p:nvPr/>
        </p:nvSpPr>
        <p:spPr>
          <a:xfrm>
            <a:off x="0" y="0"/>
            <a:ext cx="5266944" cy="6858000"/>
          </a:xfrm>
          <a:prstGeom prst="rect">
            <a:avLst/>
          </a:prstGeom>
          <a:solidFill>
            <a:schemeClr val="tx1">
              <a:alpha val="20000"/>
            </a:schemeClr>
          </a:solidFill>
          <a:ln/>
        </p:spPr>
      </p:sp>
      <p:pic>
        <p:nvPicPr>
          <p:cNvPr id="4" name="Etiqueta AREZZO" descr="/tmp/claude-0/-home-user-test/09b831be-8540-541d-ba93-b647d8c197aa/scratchpad/build/img/label_bl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" y="2532888"/>
            <a:ext cx="4178808" cy="1819656"/>
          </a:xfrm>
          <a:prstGeom prst="rect">
            <a:avLst/>
          </a:prstGeom>
        </p:spPr>
      </p:pic>
      <p:pic>
        <p:nvPicPr>
          <p:cNvPr id="5" name="Logo AREZZO" descr="/tmp/claude-0/-home-user-test/09b831be-8540-541d-ba93-b647d8c197aa/scratchpad/build/img/logo_white_bi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3118104"/>
            <a:ext cx="2340864" cy="42062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641348" y="3602736"/>
            <a:ext cx="1984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PRE FALL ’27</a:t>
            </a:r>
            <a:endParaRPr lang="en-US" sz="1100" dirty="0"/>
          </a:p>
        </p:txBody>
      </p:sp>
      <p:sp>
        <p:nvSpPr>
          <p:cNvPr id="7" name="Text 0"/>
          <p:cNvSpPr/>
          <p:nvPr>
            <p:ph idx="100" type="body" hasCustomPrompt="1"/>
          </p:nvPr>
        </p:nvSpPr>
        <p:spPr>
          <a:xfrm>
            <a:off x="5751576" y="5029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400" kern="0" dirty="0">
                <a:solidFill>
                  <a:schemeClr val="accent6"/>
                </a:solidFill>
              </a:rPr>
              <a:t>AREZZO&amp;CO | FRANQUEADOS PRE-FALL 2027</a:t>
            </a:r>
            <a:endParaRPr lang="en-US" sz="1200" dirty="0"/>
          </a:p>
        </p:txBody>
      </p:sp>
      <p:sp>
        <p:nvSpPr>
          <p:cNvPr id="8" name="Text 0"/>
          <p:cNvSpPr/>
          <p:nvPr>
            <p:ph idx="101" type="body" hasCustomPrompt="1"/>
          </p:nvPr>
        </p:nvSpPr>
        <p:spPr>
          <a:xfrm>
            <a:off x="5751576" y="8686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21 DE OUTUBRO DE 2026</a:t>
            </a:r>
            <a:endParaRPr lang="en-US" sz="1200" dirty="0"/>
          </a:p>
        </p:txBody>
      </p:sp>
      <p:sp>
        <p:nvSpPr>
          <p:cNvPr id="9" name="Text 0"/>
          <p:cNvSpPr/>
          <p:nvPr>
            <p:ph idx="102" type="title" hasCustomPrompt="1"/>
          </p:nvPr>
        </p:nvSpPr>
        <p:spPr>
          <a:xfrm>
            <a:off x="5751576" y="1463040"/>
            <a:ext cx="57607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800" b="1" spc="100" kern="0" dirty="0">
                <a:solidFill>
                  <a:schemeClr val="accent6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PRE-FALL 2027</a:t>
            </a:r>
            <a:endParaRPr lang="en-US" sz="4000" dirty="0"/>
          </a:p>
        </p:txBody>
      </p:sp>
      <p:sp>
        <p:nvSpPr>
          <p:cNvPr id="10" name="Text 0"/>
          <p:cNvSpPr/>
          <p:nvPr>
            <p:ph idx="103" type="body" hasCustomPrompt="1"/>
          </p:nvPr>
        </p:nvSpPr>
        <p:spPr>
          <a:xfrm>
            <a:off x="5751576" y="562356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TRANSIÇÃO PARA A APRESENTAÇÃO DE PRODUTO | Arquivo de produto ainda não fornecido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campanha" descr="/tmp/claude-0/-home-user-test/09b831be-8540-541d-ba93-b647d8c197aa/scratchpad/build/img/l6_p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813816"/>
            <a:ext cx="3566160" cy="5175504"/>
          </a:xfrm>
          <a:prstGeom prst="rect">
            <a:avLst/>
          </a:prstGeom>
        </p:spPr>
      </p:pic>
      <p:pic>
        <p:nvPicPr>
          <p:cNvPr id="3" name="Logo AREZZO" descr="/tmp/claude-0/-home-user-test/09b831be-8540-541d-ba93-b647d8c197aa/scratchpad/build/img/logo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188" y="3191256"/>
            <a:ext cx="2843784" cy="512064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9144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PRODUTO | INSERIR MATERIAL OFICIAL</a:t>
            </a: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640080" y="146304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spc="-100" kern="0" dirty="0">
                <a:solidFill>
                  <a:schemeClr val="tx1"/>
                </a:solidFill>
              </a:rPr>
              <a:t>Pre-Fall 2027:</a:t>
            </a:r>
            <a:endParaRPr lang="en-US" sz="4000" dirty="0"/>
          </a:p>
          <a:p>
            <a:pPr algn="l" indent="0" marL="0">
              <a:buNone/>
            </a:pPr>
            <a:r>
              <a:rPr lang="en-US" sz="4000" spc="-100" kern="0" dirty="0">
                <a:solidFill>
                  <a:schemeClr val="tx1"/>
                </a:solidFill>
              </a:rPr>
              <a:t>a conversa</a:t>
            </a:r>
            <a:endParaRPr lang="en-US" sz="4000" dirty="0"/>
          </a:p>
          <a:p>
            <a:pPr algn="l" indent="0" marL="0">
              <a:buNone/>
            </a:pPr>
            <a:r>
              <a:rPr lang="en-US" sz="4000" spc="-100" kern="0" dirty="0">
                <a:solidFill>
                  <a:schemeClr val="tx1"/>
                </a:solidFill>
              </a:rPr>
              <a:t>comercial</a:t>
            </a:r>
            <a:pPr algn="l" indent="0" marL="0">
              <a:buNone/>
            </a:pPr>
            <a:r>
              <a:rPr lang="en-US" sz="1200" spc="-100" kern="0" dirty="0">
                <a:solidFill>
                  <a:schemeClr val="tx1"/>
                </a:solidFill>
              </a:rPr>
              <a:t>_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8412480" y="9144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8412480" y="120700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Produto desejado, arquitetura clara e preço competitivo.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8412480" y="21762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8412480" y="24688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Coleção editada para diferentes perfis de loja e regiões.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412480" y="34381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8412480" y="373075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Key items e best-sellers com estratégia de profundidade e reposição.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8412480" y="470001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04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412480" y="4992624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Calendário de campanha, treinamento, sell-in e sell-out.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campanha" descr="/tmp/claude-0/-home-user-test/09b831be-8540-541d-ba93-b647d8c197aa/scratchpad/build/img/tx_clo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2008" y="0"/>
            <a:ext cx="5266944" cy="6858000"/>
          </a:xfrm>
          <a:prstGeom prst="rect">
            <a:avLst/>
          </a:prstGeom>
        </p:spPr>
      </p:pic>
      <p:pic>
        <p:nvPicPr>
          <p:cNvPr id="3" name="Etiqueta AREZZO" descr="/tmp/claude-0/-home-user-test/09b831be-8540-541d-ba93-b647d8c197aa/scratchpad/build/img/label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532888"/>
            <a:ext cx="4178808" cy="1819656"/>
          </a:xfrm>
          <a:prstGeom prst="rect">
            <a:avLst/>
          </a:prstGeom>
        </p:spPr>
      </p:pic>
      <p:pic>
        <p:nvPicPr>
          <p:cNvPr id="4" name="Logo AREZZO" descr="/tmp/claude-0/-home-user-test/09b831be-8540-541d-ba93-b647d8c197aa/scratchpad/build/img/logo_white_bi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3118104"/>
            <a:ext cx="2340864" cy="42062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563356" y="3602736"/>
            <a:ext cx="1984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PRE FALL ’27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body" hasCustomPrompt="1"/>
          </p:nvPr>
        </p:nvSpPr>
        <p:spPr>
          <a:xfrm>
            <a:off x="649224" y="4572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600" kern="0" dirty="0">
                <a:solidFill>
                  <a:schemeClr val="accent6"/>
                </a:solidFill>
              </a:rPr>
              <a:t>ENCERRAMENTO</a:t>
            </a:r>
            <a:endParaRPr lang="en-US" sz="14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649224" y="1280160"/>
            <a:ext cx="57607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spc="100" kern="0" dirty="0">
                <a:solidFill>
                  <a:schemeClr val="accent6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O NOSSO FUTURO SERÁ CONSTRUÍDO JUNTOS.</a:t>
            </a:r>
            <a:endParaRPr lang="en-US" sz="3600" dirty="0"/>
          </a:p>
        </p:txBody>
      </p:sp>
      <p:sp>
        <p:nvSpPr>
          <p:cNvPr id="8" name="Text 0"/>
          <p:cNvSpPr/>
          <p:nvPr>
            <p:ph idx="102" type="body" hasCustomPrompt="1"/>
          </p:nvPr>
        </p:nvSpPr>
        <p:spPr>
          <a:xfrm>
            <a:off x="649224" y="5833872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 Arezzo&amp;Co volta a colocar produto, franqueados e cliente no centro.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campanha" descr="/tmp/claude-0/-home-user-test/09b831be-8540-541d-ba93-b647d8c197aa/scratchpad/build/img/fb_p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Véu escur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>
              <a:alpha val="60000"/>
            </a:schemeClr>
          </a:solidFill>
          <a:ln/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82296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Unitext" pitchFamily="34" charset="0"/>
                <a:ea typeface="Unitext" pitchFamily="34" charset="-122"/>
                <a:cs typeface="Unitext" pitchFamily="34" charset="-120"/>
              </a:rPr>
              <a:t>PRODUÇÃO | PENDÊNCIAS</a:t>
            </a:r>
            <a:endParaRPr lang="en-US" sz="11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822960" y="2057400"/>
            <a:ext cx="5120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spc="-100" kern="0" dirty="0">
                <a:solidFill>
                  <a:schemeClr val="accent2"/>
                </a:solidFill>
              </a:rPr>
              <a:t>Materiais ainda</a:t>
            </a:r>
            <a:endParaRPr lang="en-US" sz="4000" dirty="0"/>
          </a:p>
          <a:p>
            <a:pPr algn="l" indent="0" marL="0">
              <a:buNone/>
            </a:pPr>
            <a:r>
              <a:rPr lang="en-US" sz="4000" spc="-100" kern="0" dirty="0">
                <a:solidFill>
                  <a:schemeClr val="accent2"/>
                </a:solidFill>
              </a:rPr>
              <a:t>necessários para a</a:t>
            </a:r>
            <a:endParaRPr lang="en-US" sz="4000" dirty="0"/>
          </a:p>
          <a:p>
            <a:pPr algn="l" indent="0" marL="0">
              <a:buNone/>
            </a:pPr>
            <a:r>
              <a:rPr lang="en-US" sz="4000" spc="-100" kern="0" dirty="0">
                <a:solidFill>
                  <a:schemeClr val="accent2"/>
                </a:solidFill>
              </a:rPr>
              <a:t>versão de palco</a:t>
            </a:r>
            <a:pPr algn="l" indent="0" marL="0">
              <a:buNone/>
            </a:pPr>
            <a:r>
              <a:rPr lang="en-US" sz="1200" spc="-100" kern="0" dirty="0">
                <a:solidFill>
                  <a:schemeClr val="accent2"/>
                </a:solidFill>
              </a:rPr>
              <a:t>_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675120" y="205740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accent6"/>
                </a:solidFill>
              </a:rPr>
              <a:t>Arquivo original do vídeo histórico da Arezzo.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accent6"/>
                </a:solidFill>
              </a:rPr>
              <a:t>Apresentação oficial de produto Pre-Fall 2027 e look &amp; feel.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accent6"/>
                </a:solidFill>
              </a:rPr>
              <a:t>Regras detalhadas e status do projeto Rights no sell-out.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accent6"/>
                </a:solidFill>
              </a:rPr>
              <a:t>Validação de nomes, reportes, cronogramas e promessas à rede.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accent6"/>
                </a:solidFill>
              </a:rPr>
              <a:t>Eventuais dados recentes de performance e qualidade.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Z 27 Pre Fall">
  <a:themeElements>
    <a:clrScheme name="ARZ 27 Pre Fall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10004"/>
      </a:accent1>
      <a:accent2>
        <a:srgbClr val="00C1D6"/>
      </a:accent2>
      <a:accent3>
        <a:srgbClr val="00341E"/>
      </a:accent3>
      <a:accent4>
        <a:srgbClr val="AD9820"/>
      </a:accent4>
      <a:accent5>
        <a:srgbClr val="3B0007"/>
      </a:accent5>
      <a:accent6>
        <a:srgbClr val="F7F2F0"/>
      </a:accent6>
      <a:hlink>
        <a:srgbClr val="0000FF"/>
      </a:hlink>
      <a:folHlink>
        <a:srgbClr val="FF00FF"/>
      </a:folHlink>
    </a:clrScheme>
    <a:fontScheme name="ARZ 27 Pre Fall">
      <a:majorFont>
        <a:latin typeface="Unitext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Unitext Ligh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Franqueados Pre-Fall 2027 | Projeto Fortezza</dc:title>
  <dc:subject>Encontro de franqueados - lançamento Pre-Fall 2027</dc:subject>
  <dc:creator>Arezzo&amp;Co</dc:creator>
  <cp:lastModifiedBy>Arezzo&amp;Co</cp:lastModifiedBy>
  <cp:revision>1</cp:revision>
  <dcterms:created xsi:type="dcterms:W3CDTF">2026-10-21T10:03:45Z</dcterms:created>
  <dcterms:modified xsi:type="dcterms:W3CDTF">2026-10-21T10:03:45Z</dcterms:modified>
</cp:coreProperties>
</file>